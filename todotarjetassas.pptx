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946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716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Todo Tarjetas como ejercicio del curso Architecting Digital Enterprises, integrando Talleres 1 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del caso: Todo Tarjetas S.A. enfrenta presión competitiva y operativa. Identificamos el desafío estratégico, el objetivo y la estrategia dual de dos CVPs.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Identificamos dos gaps de experiencia: servicio postventa fragmentado y fricción en originación. Cada gap abre un white space claro de oportunidad.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Articulamos los Jobs To Be Done para cada CVP en formato situación-deseo-resultado esperado.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CVP1 detallado en formato WHY/WHAT/HOW con beneficios cuantificados.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CVP2 detallado en formato WHY/WHAT/HOW con beneficios cuantificados.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Journey de ambos CVPs: 6 pasos por viaje, mostrando la experiencia end-to-end.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Estrategia de monetización: CVP1 captura valor por reducción de costos; CVP2 combina revenue growth con cost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Case TCO: 5.3 millones de inversión total a 5 años, descompuesta entre CAPEX y OPEX por dominio.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Resultados financieros 5 años: VPN 12.2M, ROI 254.7%, payback en año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Conclusión estratégica: ambos CVPs convergen en un impacto combinado de 2.59M de beneficio 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al Taller 2: cultura digital, validación UX y arquitectura de solución.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Congruencia para Digital: cinco palancas — estrategia, cultura, personas, tareas y estructura — con su FROM-TO y conductas asociadas.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Cultura Digital: diagnóstico de madurez por seis dimensiones y riesgos concretos de no evolucionar a corto y mediano plazo.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Cultura Digital Requerida: análisis FROM-TO específico para cada CVP en seis dimensiones culturales.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Validamos UX contra 4 referentes globales y los 10 principios de Nielsen. Identificamos brechas concretas y aplicamos mejoras puntuales que llevan ambos prototipos a cumplimiento heurístico pleno.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perfiles cubren cliente normal, experto, potencial nuevo y usuario extremo. Cada sesión generó hallazgo con cita literal y pivot accionable de bajo costo.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 Westendorp identifica el precio óptimo por CVP. CVP1 monetiza tier Premium sobre ahorro operativo; CVP2 con interchange e intereses, dejando cuota fija en cero el año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Bloque 2: el prototipo no es especulativo, está validado contra benchmark, heurística y user testing real. Siete mejoras concretas pivotaron el diseño.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Vista global de la arquitectura. Cinco capas, 60–70% del activo actual reutilizado. Diseñada multi-tenant para escalar al holding regional.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Patrón Lambda: el speed layer absorbe operación en tiempo real (CVP1 SLAs, CVP2 abandono); el batch layer mantiene la verdad histórica y los reportes regulatorios.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API-first transversal — TT expone APIs versionadas y consume del ecosistema regulado. El funnel cierra la trazabilidad: la arquitectura está optimizada exactamente para los CVPs priorizados.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ejecutivo: la arquitectura cumple simultáneamente los dos CVPs sobre infraestructura compartida, respeta los 8 principios no-negociables y viabiliza el VPN proyectado del Taller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668935"/>
            <a:ext cx="239985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33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 DIRECTIVO · 2026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1333500" y="3135660"/>
            <a:ext cx="7322192" cy="1920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800" b="1" kern="0" spc="-23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TODO TARJETAS S.A.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1333500" y="5322540"/>
            <a:ext cx="1333500" cy="47625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333500" y="5694015"/>
            <a:ext cx="4378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kern="0" spc="-1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Architecting Digital Enterprises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33500" y="6875115"/>
            <a:ext cx="185127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Esteban Castelblanco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33500" y="7141815"/>
            <a:ext cx="185127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Julián Baquero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33500" y="7408515"/>
            <a:ext cx="185127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Nicolás Casas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526890" y="9420225"/>
            <a:ext cx="250381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kern="0" spc="247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TALLERES 1 + 2 · INTEGRADOS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15811500" y="9620250"/>
            <a:ext cx="342900" cy="5715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16211550" y="9620250"/>
            <a:ext cx="342900" cy="5715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16611600" y="9620250"/>
            <a:ext cx="342900" cy="571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6340658" y="609600"/>
            <a:ext cx="69004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kern="0" spc="33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23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365182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del Caso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5923121" y="361950"/>
            <a:ext cx="175527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r>
              <a:rPr lang="en-US" sz="1050" b="1" kern="0" spc="23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23 · TALLER 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990600"/>
            <a:ext cx="16916400" cy="3810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8343900" cy="4114800"/>
          </a:xfrm>
          <a:prstGeom prst="roundRect">
            <a:avLst>
              <a:gd name="adj" fmla="val 463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000125" y="1419225"/>
            <a:ext cx="794670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ES TODO TARJETAS S.A.?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000125" y="1785938"/>
            <a:ext cx="79467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 de servicios de procesamiento de tarjetas para bancos emisores y comercios afiliados.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23442" y="2219325"/>
            <a:ext cx="77509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036638" y="2185988"/>
            <a:ext cx="17326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2,500 prospectos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07396" y="2219325"/>
            <a:ext cx="9974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23442" y="2609850"/>
            <a:ext cx="20989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 operacionales: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60465" y="2576513"/>
            <a:ext cx="108361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12.5M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2182" y="2609850"/>
            <a:ext cx="74354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anuales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23442" y="3000375"/>
            <a:ext cx="136795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actual: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29495" y="2967038"/>
            <a:ext cx="9523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1.7M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19946" y="3000375"/>
            <a:ext cx="144207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(margen 13.6%)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23442" y="3390900"/>
            <a:ext cx="11881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Utilidad neta: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449711" y="3357563"/>
            <a:ext cx="10075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975K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95377" y="3390900"/>
            <a:ext cx="13361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(margen 7.8%)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258300" y="1143000"/>
            <a:ext cx="8343900" cy="4114800"/>
          </a:xfrm>
          <a:prstGeom prst="roundRect">
            <a:avLst>
              <a:gd name="adj" fmla="val 463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9572625" y="1419225"/>
            <a:ext cx="794670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DESAFÍO ESTRATÉGICO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9439275" y="1785938"/>
            <a:ext cx="792480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dependencia del call center para servicio postventa</a:t>
            </a:r>
            <a:endParaRPr lang="en-US" sz="15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de originación manual y con fricciones</a:t>
            </a:r>
            <a:endParaRPr lang="en-US" sz="15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penetración en segmento joven (18–25 años)</a:t>
            </a:r>
            <a:endParaRPr lang="en-US" sz="15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Presión para reducir OPEX por debajo del 2% del mercado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5800" y="5486400"/>
            <a:ext cx="8343900" cy="4114800"/>
          </a:xfrm>
          <a:prstGeom prst="roundRect">
            <a:avLst>
              <a:gd name="adj" fmla="val 463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1000125" y="5762625"/>
            <a:ext cx="794670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1000125" y="6129338"/>
            <a:ext cx="79467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líneas verdes de innovación que: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6775" y="6510338"/>
            <a:ext cx="792480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Mejoren la experiencia del cliente del cliente</a:t>
            </a:r>
            <a:endParaRPr lang="en-US" sz="15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Aumenten eficiencia operacional</a:t>
            </a:r>
            <a:endParaRPr lang="en-US" sz="15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Generen crecimiento en el segmento joven</a:t>
            </a:r>
            <a:endParaRPr lang="en-US" sz="15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Creen y capturen valor medible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258300" y="5486400"/>
            <a:ext cx="8343900" cy="4114800"/>
          </a:xfrm>
          <a:prstGeom prst="roundRect">
            <a:avLst>
              <a:gd name="adj" fmla="val 463"/>
            </a:avLst>
          </a:prstGeom>
          <a:solidFill>
            <a:srgbClr val="161616"/>
          </a:solidFill>
          <a:ln w="9525">
            <a:solidFill>
              <a:srgbClr val="E041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9572625" y="5762625"/>
            <a:ext cx="794670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ESTRATEGIA: 2 CUSTOMER VALUE PROPOSITIONS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9795942" y="6129338"/>
            <a:ext cx="5650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CVP1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451976" y="6162675"/>
            <a:ext cx="39862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Asistente GenAI Omnicanal + Autoservicio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795942" y="6519863"/>
            <a:ext cx="6028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CVP2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489778" y="6553200"/>
            <a:ext cx="38700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Originación 100% Digital + Tarjeta Virtual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572625" y="7024688"/>
            <a:ext cx="7715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9572625" y="7205663"/>
            <a:ext cx="7946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DUAL: CREAR VALOR + CAPTURAR VALOR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5800" y="9867900"/>
            <a:ext cx="37663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TARJETAS S.A. · COMITÉ DIRECTIVO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4314959" y="9867900"/>
            <a:ext cx="33858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ARCHITECTING DIGITAL ENTERPRISES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1128780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Crear Valor — Gaps de Experiencia Identificados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5921037" y="361950"/>
            <a:ext cx="175736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r>
              <a:rPr lang="en-US" sz="1050" b="1" kern="0" spc="23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23 · TALLER 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990600"/>
            <a:ext cx="16916400" cy="3810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8305800" cy="7142857"/>
          </a:xfrm>
          <a:prstGeom prst="roundRect">
            <a:avLst>
              <a:gd name="adj" fmla="val 267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000125" y="1419225"/>
            <a:ext cx="48302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1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1540297" y="1476375"/>
            <a:ext cx="7136978" cy="9525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000125" y="1676400"/>
            <a:ext cx="7907465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de servicio postventa fragmentada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00125" y="2170733"/>
            <a:ext cx="790746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 ACTUAL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000125" y="2451720"/>
            <a:ext cx="79074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Reclamos, bloqueos, activaciones vía call center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0125" y="2842245"/>
            <a:ext cx="79074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Tiempos de espera altos y fricción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0125" y="3232770"/>
            <a:ext cx="79074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Presión operativa + procesos manuales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3442" y="3623295"/>
            <a:ext cx="272271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del gasto de call center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81152" y="3656633"/>
            <a:ext cx="17440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PQR addressable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8514457"/>
            <a:ext cx="8305800" cy="1086743"/>
          </a:xfrm>
          <a:prstGeom prst="roundRect">
            <a:avLst>
              <a:gd name="adj" fmla="val 1753"/>
            </a:avLst>
          </a:prstGeom>
          <a:solidFill>
            <a:srgbClr val="E0413A"/>
          </a:solidFill>
          <a:ln w="9525">
            <a:solidFill>
              <a:srgbClr val="E041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1000125" y="8790682"/>
            <a:ext cx="790746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SPACE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000125" y="9052620"/>
            <a:ext cx="7907465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de autoservicio digital omnicanal disponible 24/7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296400" y="1143000"/>
            <a:ext cx="8305800" cy="7142857"/>
          </a:xfrm>
          <a:prstGeom prst="roundRect">
            <a:avLst>
              <a:gd name="adj" fmla="val 267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9610725" y="1419225"/>
            <a:ext cx="50378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2</a:t>
            </a:r>
            <a:endParaRPr lang="en-US" sz="825" dirty="0"/>
          </a:p>
        </p:txBody>
      </p:sp>
      <p:sp>
        <p:nvSpPr>
          <p:cNvPr id="21" name="Shape 19"/>
          <p:cNvSpPr/>
          <p:nvPr/>
        </p:nvSpPr>
        <p:spPr>
          <a:xfrm>
            <a:off x="10171658" y="1476375"/>
            <a:ext cx="7116217" cy="9525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9610725" y="1676400"/>
            <a:ext cx="7907465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Fricción en la originación de tarjetas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610725" y="2170733"/>
            <a:ext cx="790746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 ACTUAL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9477375" y="2451720"/>
            <a:ext cx="788670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Digitalización manual de documentos</a:t>
            </a:r>
            <a:endParaRPr lang="en-US" sz="15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Validaciones manuales y entrega física</a:t>
            </a:r>
            <a:endParaRPr lang="en-US" sz="15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Activación posterior vía call center</a:t>
            </a:r>
            <a:endParaRPr lang="en-US" sz="15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 joven (18–25) espera procesos inmediatos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296400" y="8514457"/>
            <a:ext cx="8305800" cy="1086743"/>
          </a:xfrm>
          <a:prstGeom prst="roundRect">
            <a:avLst>
              <a:gd name="adj" fmla="val 1753"/>
            </a:avLst>
          </a:prstGeom>
          <a:solidFill>
            <a:srgbClr val="E0413A"/>
          </a:solidFill>
          <a:ln w="9525">
            <a:solidFill>
              <a:srgbClr val="E041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9610725" y="8790682"/>
            <a:ext cx="790746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SPACE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9610725" y="9052620"/>
            <a:ext cx="7907465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completamente digital con tarjeta virtual instantánea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85800" y="9867900"/>
            <a:ext cx="12863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VALOR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4831690" y="9867900"/>
            <a:ext cx="28536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→ WHITE SPACES → CVPS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476074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To Be Done (JTBD)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5916870" y="361950"/>
            <a:ext cx="17615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r>
              <a:rPr lang="en-US" sz="1050" b="1" kern="0" spc="23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23 · TALLER 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990600"/>
            <a:ext cx="16916400" cy="3810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768921" cy="252413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19150" y="1200150"/>
            <a:ext cx="578421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JTBD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26171" y="1164431"/>
            <a:ext cx="154029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al cliente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61717" y="1264444"/>
            <a:ext cx="14340483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685800" y="1528763"/>
            <a:ext cx="5334000" cy="3709988"/>
          </a:xfrm>
          <a:prstGeom prst="roundRect">
            <a:avLst>
              <a:gd name="adj" fmla="val 513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000125" y="2960415"/>
            <a:ext cx="4846511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1000125" y="3327127"/>
            <a:ext cx="4846511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tarjetahabiente o comercio tiene un problema con su tarjeta o transacción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981700" y="1528763"/>
            <a:ext cx="533400" cy="3748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77000" y="1528763"/>
            <a:ext cx="5334000" cy="3709988"/>
          </a:xfrm>
          <a:prstGeom prst="roundRect">
            <a:avLst>
              <a:gd name="adj" fmla="val 513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791325" y="2960415"/>
            <a:ext cx="4846511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DESEO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6791325" y="3327127"/>
            <a:ext cx="4846511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 el problema inmediatamente desde un canal digital sin llamar al call center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772900" y="1528763"/>
            <a:ext cx="533400" cy="3748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2268200" y="1528763"/>
            <a:ext cx="5334000" cy="3709988"/>
          </a:xfrm>
          <a:prstGeom prst="roundRect">
            <a:avLst>
              <a:gd name="adj" fmla="val 513"/>
            </a:avLst>
          </a:prstGeom>
          <a:solidFill>
            <a:srgbClr val="0E0E0E"/>
          </a:solidFill>
          <a:ln w="9525">
            <a:solidFill>
              <a:srgbClr val="E041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12582525" y="3080370"/>
            <a:ext cx="4846511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12582525" y="3447083"/>
            <a:ext cx="4846511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el caso en minutos con trazabilidad completa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85800" y="5505450"/>
            <a:ext cx="791394" cy="252413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819150" y="5562600"/>
            <a:ext cx="600894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JTBD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48644" y="5526881"/>
            <a:ext cx="176554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Obtención de tarjeta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509442" y="5626894"/>
            <a:ext cx="14092758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685800" y="5891213"/>
            <a:ext cx="5334000" cy="3709988"/>
          </a:xfrm>
          <a:prstGeom prst="roundRect">
            <a:avLst>
              <a:gd name="adj" fmla="val 513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1000125" y="7322865"/>
            <a:ext cx="4846511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1000125" y="7689577"/>
            <a:ext cx="4846511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cliente joven quiere obtener una tarjeta y comenzar a usarla inmediatamente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981700" y="5891213"/>
            <a:ext cx="533400" cy="3748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6477000" y="5891213"/>
            <a:ext cx="5334000" cy="3709988"/>
          </a:xfrm>
          <a:prstGeom prst="roundRect">
            <a:avLst>
              <a:gd name="adj" fmla="val 513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6791325" y="7442820"/>
            <a:ext cx="4846511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DESEO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6791325" y="7809533"/>
            <a:ext cx="4846511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Completar el proceso completamente digital desde su celular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1772900" y="5891213"/>
            <a:ext cx="533400" cy="3748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12268200" y="5891213"/>
            <a:ext cx="5334000" cy="3709988"/>
          </a:xfrm>
          <a:prstGeom prst="roundRect">
            <a:avLst>
              <a:gd name="adj" fmla="val 513"/>
            </a:avLst>
          </a:prstGeom>
          <a:solidFill>
            <a:srgbClr val="0E0E0E"/>
          </a:solidFill>
          <a:ln w="9525">
            <a:solidFill>
              <a:srgbClr val="E041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12582525" y="7442820"/>
            <a:ext cx="4846511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12582525" y="7809533"/>
            <a:ext cx="4846511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Aprobación y tarjeta virtual activa en la misma sesión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85800" y="9867900"/>
            <a:ext cx="12863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VALOR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3883060" y="9867900"/>
            <a:ext cx="383071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JTBD · SITUACIÓN → DESEO → RESULTADO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989651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CVP1 · Asistente GenAI Omnicanal + Autoservicio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5924088" y="361950"/>
            <a:ext cx="175431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</a:t>
            </a:r>
            <a:r>
              <a:rPr lang="en-US" sz="1050" b="1" kern="0" spc="23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23 · TALLER 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990600"/>
            <a:ext cx="16916400" cy="3810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5486400" cy="7548563"/>
          </a:xfrm>
          <a:prstGeom prst="roundRect">
            <a:avLst>
              <a:gd name="adj" fmla="val 347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000125" y="1419225"/>
            <a:ext cx="59419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651471" y="1657350"/>
            <a:ext cx="570979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304925" y="2105025"/>
            <a:ext cx="5218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64891" y="2138363"/>
            <a:ext cx="351753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gasto call center = PQR addressable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0125" y="2495550"/>
            <a:ext cx="50034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Tiempos de espera generan fricción e insatisfacción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0125" y="2886075"/>
            <a:ext cx="50034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manuales = presión operativa insostenible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0125" y="3276600"/>
            <a:ext cx="50034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esperan resolución digital 24/7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0" y="1143000"/>
            <a:ext cx="5486400" cy="7548563"/>
          </a:xfrm>
          <a:prstGeom prst="roundRect">
            <a:avLst>
              <a:gd name="adj" fmla="val 347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715125" y="1419225"/>
            <a:ext cx="68401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456289" y="1657350"/>
            <a:ext cx="696367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6581775" y="2105025"/>
            <a:ext cx="5067300" cy="1762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Asistente inteligente con GenAI para resolver PQR</a:t>
            </a:r>
            <a:endParaRPr lang="en-US" sz="15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Autoservicio: reclamos, bloqueos, consultas, activaciones</a:t>
            </a:r>
            <a:endParaRPr lang="en-US" sz="15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 en App, Web, WhatsApp, Chat</a:t>
            </a:r>
            <a:endParaRPr lang="en-US" sz="15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Backoffice integrado para gestión de casos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2115800" y="1143000"/>
            <a:ext cx="5486400" cy="7548563"/>
          </a:xfrm>
          <a:prstGeom prst="roundRect">
            <a:avLst>
              <a:gd name="adj" fmla="val 347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12430125" y="1419225"/>
            <a:ext cx="69272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3179996" y="1657350"/>
            <a:ext cx="573435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2296775" y="2105025"/>
            <a:ext cx="506730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 orquestación omnicanal + NLP</a:t>
            </a:r>
            <a:endParaRPr lang="en-US" sz="15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con core bancario y switch</a:t>
            </a:r>
            <a:endParaRPr lang="en-US" sz="15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Escalamiento inteligente a agente humano</a:t>
            </a:r>
            <a:endParaRPr lang="en-US" sz="15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completa de cada caso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5800" y="8958263"/>
            <a:ext cx="16916400" cy="642938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477964" y="9186863"/>
            <a:ext cx="164834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CLAVE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02510" y="9186863"/>
            <a:ext cx="13759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16302" y="9186863"/>
            <a:ext cx="15746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RESOLUCIÓN 24/7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67178" y="9186863"/>
            <a:ext cx="13759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80970" y="9186863"/>
            <a:ext cx="271405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−35% LLAMADAS CALL CENTER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68371" y="9186863"/>
            <a:ext cx="13759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82163" y="9186863"/>
            <a:ext cx="196021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SATISFACCIÓN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318578" y="9186863"/>
            <a:ext cx="13759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532370" y="9186863"/>
            <a:ext cx="235379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 USD 572,500/AÑO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9867900"/>
            <a:ext cx="192114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VALOR · CVP1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4979253" y="9867900"/>
            <a:ext cx="270163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ASISTENTE GENAI OMNICANAL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1218065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CVP2 · Originación 100% Digital + Tarjeta Virtual Instantánea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5920442" y="361950"/>
            <a:ext cx="175795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</a:t>
            </a:r>
            <a:r>
              <a:rPr lang="en-US" sz="1050" b="1" kern="0" spc="23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23 · TALLER 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990600"/>
            <a:ext cx="16916400" cy="3810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5486400" cy="7548563"/>
          </a:xfrm>
          <a:prstGeom prst="roundRect">
            <a:avLst>
              <a:gd name="adj" fmla="val 347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000125" y="1419225"/>
            <a:ext cx="59419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651471" y="1657350"/>
            <a:ext cx="570979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000125" y="2105025"/>
            <a:ext cx="50034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de originación manual y lento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04925" y="2528888"/>
            <a:ext cx="2759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física genera costos 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98429" y="2495550"/>
            <a:ext cx="13849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1.8M/año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0125" y="2886075"/>
            <a:ext cx="50034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 18–25 demanda experiencia 100% digital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0125" y="3276600"/>
            <a:ext cx="50034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conversión y activación tardía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0" y="1143000"/>
            <a:ext cx="5486400" cy="7548563"/>
          </a:xfrm>
          <a:prstGeom prst="roundRect">
            <a:avLst>
              <a:gd name="adj" fmla="val 347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715125" y="1419225"/>
            <a:ext cx="68401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456289" y="1657350"/>
            <a:ext cx="696367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6581775" y="2105025"/>
            <a:ext cx="506730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digital desde el celular</a:t>
            </a:r>
            <a:endParaRPr lang="en-US" sz="15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biométrica + scoring automático</a:t>
            </a:r>
            <a:endParaRPr lang="en-US" sz="15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Aprobación instantánea + tarjeta virtual inmediata</a:t>
            </a:r>
            <a:endParaRPr lang="en-US" sz="15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digital para primer consumo en minutos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2115800" y="1143000"/>
            <a:ext cx="5486400" cy="7548563"/>
          </a:xfrm>
          <a:prstGeom prst="roundRect">
            <a:avLst>
              <a:gd name="adj" fmla="val 347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12430125" y="1419225"/>
            <a:ext cx="69272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3179996" y="1657350"/>
            <a:ext cx="573435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2296775" y="2105025"/>
            <a:ext cx="506730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+ biometría facial para KYC digital</a:t>
            </a:r>
            <a:endParaRPr lang="en-US" sz="15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scoring automático integrado</a:t>
            </a:r>
            <a:endParaRPr lang="en-US" sz="15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Emisión de tarjeta virtual vía tokenización</a:t>
            </a:r>
            <a:endParaRPr lang="en-US" sz="15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con wallets (Apple Pay, Google Pay)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5800" y="8958263"/>
            <a:ext cx="16916400" cy="642938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672334" y="9186863"/>
            <a:ext cx="164834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CLAVE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6880" y="9186863"/>
            <a:ext cx="13759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10671" y="9186863"/>
            <a:ext cx="202510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CUOTAS MANEJO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11976" y="9186863"/>
            <a:ext cx="13759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25767" y="9186863"/>
            <a:ext cx="211715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−70% COSTOS ENTREGA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119122" y="9186863"/>
            <a:ext cx="13759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332913" y="9186863"/>
            <a:ext cx="155986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−30% PLÁSTICOS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968981" y="9186863"/>
            <a:ext cx="13759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182773" y="9186863"/>
            <a:ext cx="250909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 USD 2,014,000/AÑO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9867900"/>
            <a:ext cx="192114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VALOR · CVP2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5703823" y="9867900"/>
            <a:ext cx="197457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ORIGINACIÓN DIGITAL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373122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Journey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5932125" y="361950"/>
            <a:ext cx="17462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</a:t>
            </a:r>
            <a:r>
              <a:rPr lang="en-US" sz="1050" b="1" kern="0" spc="23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23 · TALLER 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990600"/>
            <a:ext cx="16916400" cy="3810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646956" cy="252413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19150" y="1200150"/>
            <a:ext cx="456456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04206" y="1164431"/>
            <a:ext cx="260754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Autoservicio GenAI Omnicanal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06999" y="1264444"/>
            <a:ext cx="13395201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685800" y="1566863"/>
            <a:ext cx="2708225" cy="3633788"/>
          </a:xfrm>
          <a:prstGeom prst="roundRect">
            <a:avLst>
              <a:gd name="adj" fmla="val 703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866775" y="1785938"/>
            <a:ext cx="361950" cy="361950"/>
          </a:xfrm>
          <a:prstGeom prst="ellipse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828675" y="1785938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6775" y="2281238"/>
            <a:ext cx="1429122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 interacción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866775" y="2608883"/>
            <a:ext cx="111449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/ WhatsApp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27375" y="1566863"/>
            <a:ext cx="2708300" cy="3633788"/>
          </a:xfrm>
          <a:prstGeom prst="roundRect">
            <a:avLst>
              <a:gd name="adj" fmla="val 703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3708350" y="1785938"/>
            <a:ext cx="361950" cy="361950"/>
          </a:xfrm>
          <a:prstGeom prst="ellipse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670250" y="1785938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08350" y="2281238"/>
            <a:ext cx="2124075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identifica intención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3708350" y="2608883"/>
            <a:ext cx="109358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+ Contexto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69025" y="1566863"/>
            <a:ext cx="2708300" cy="3633788"/>
          </a:xfrm>
          <a:prstGeom prst="roundRect">
            <a:avLst>
              <a:gd name="adj" fmla="val 703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6550000" y="1785938"/>
            <a:ext cx="361950" cy="361950"/>
          </a:xfrm>
          <a:prstGeom prst="ellipse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511900" y="1785938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50000" y="2281238"/>
            <a:ext cx="1790179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Autoservicio del caso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6550000" y="2608883"/>
            <a:ext cx="12936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Reclamo / Bloqueo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210675" y="1566863"/>
            <a:ext cx="2708225" cy="3633788"/>
          </a:xfrm>
          <a:prstGeom prst="roundRect">
            <a:avLst>
              <a:gd name="adj" fmla="val 703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9391650" y="1785938"/>
            <a:ext cx="361950" cy="361950"/>
          </a:xfrm>
          <a:prstGeom prst="ellipse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9353550" y="1785938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91650" y="2281238"/>
            <a:ext cx="1614264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automática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9391650" y="2608883"/>
            <a:ext cx="97936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+ Switch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2052250" y="1566863"/>
            <a:ext cx="2708300" cy="3633788"/>
          </a:xfrm>
          <a:prstGeom prst="roundRect">
            <a:avLst>
              <a:gd name="adj" fmla="val 703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12233225" y="1785938"/>
            <a:ext cx="361950" cy="361950"/>
          </a:xfrm>
          <a:prstGeom prst="ellipse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12195125" y="1785938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233225" y="2281238"/>
            <a:ext cx="2134939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Escalamiento si necesario</a:t>
            </a:r>
            <a:endParaRPr lang="en-US" sz="1275" dirty="0"/>
          </a:p>
        </p:txBody>
      </p:sp>
      <p:sp>
        <p:nvSpPr>
          <p:cNvPr id="34" name="Text 32"/>
          <p:cNvSpPr/>
          <p:nvPr/>
        </p:nvSpPr>
        <p:spPr>
          <a:xfrm>
            <a:off x="12233225" y="2608883"/>
            <a:ext cx="108718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humano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4893900" y="1566863"/>
            <a:ext cx="2708300" cy="3633788"/>
          </a:xfrm>
          <a:prstGeom prst="roundRect">
            <a:avLst>
              <a:gd name="adj" fmla="val 703"/>
            </a:avLst>
          </a:prstGeom>
          <a:solidFill>
            <a:srgbClr val="0E0E0E"/>
          </a:solidFill>
          <a:ln w="9525">
            <a:solidFill>
              <a:srgbClr val="E041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15074875" y="1785938"/>
            <a:ext cx="361950" cy="361950"/>
          </a:xfrm>
          <a:prstGeom prst="ellipse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15036775" y="1785938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5074875" y="2281238"/>
            <a:ext cx="1869653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con trazabilidad</a:t>
            </a:r>
            <a:endParaRPr lang="en-US" sz="1275" dirty="0"/>
          </a:p>
        </p:txBody>
      </p:sp>
      <p:sp>
        <p:nvSpPr>
          <p:cNvPr id="39" name="Text 37"/>
          <p:cNvSpPr/>
          <p:nvPr/>
        </p:nvSpPr>
        <p:spPr>
          <a:xfrm>
            <a:off x="15074875" y="2608883"/>
            <a:ext cx="9683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resuelto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85800" y="5543550"/>
            <a:ext cx="669429" cy="252413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819150" y="5600700"/>
            <a:ext cx="478929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526679" y="5564981"/>
            <a:ext cx="211410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Originación 100% Digital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3736032" y="5664994"/>
            <a:ext cx="13866168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Shape 42"/>
          <p:cNvSpPr/>
          <p:nvPr/>
        </p:nvSpPr>
        <p:spPr>
          <a:xfrm>
            <a:off x="685800" y="5967413"/>
            <a:ext cx="2708225" cy="3633788"/>
          </a:xfrm>
          <a:prstGeom prst="roundRect">
            <a:avLst>
              <a:gd name="adj" fmla="val 703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Shape 43"/>
          <p:cNvSpPr/>
          <p:nvPr/>
        </p:nvSpPr>
        <p:spPr>
          <a:xfrm>
            <a:off x="866775" y="6186488"/>
            <a:ext cx="361950" cy="361950"/>
          </a:xfrm>
          <a:prstGeom prst="ellipse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828675" y="6186488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66775" y="6681788"/>
            <a:ext cx="1633314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 desde app</a:t>
            </a:r>
            <a:endParaRPr lang="en-US" sz="1275" dirty="0"/>
          </a:p>
        </p:txBody>
      </p:sp>
      <p:sp>
        <p:nvSpPr>
          <p:cNvPr id="48" name="Text 46"/>
          <p:cNvSpPr/>
          <p:nvPr/>
        </p:nvSpPr>
        <p:spPr>
          <a:xfrm>
            <a:off x="866775" y="7009433"/>
            <a:ext cx="61547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527375" y="5967413"/>
            <a:ext cx="2708300" cy="3633788"/>
          </a:xfrm>
          <a:prstGeom prst="roundRect">
            <a:avLst>
              <a:gd name="adj" fmla="val 703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Shape 48"/>
          <p:cNvSpPr/>
          <p:nvPr/>
        </p:nvSpPr>
        <p:spPr>
          <a:xfrm>
            <a:off x="3708350" y="6186488"/>
            <a:ext cx="361950" cy="361950"/>
          </a:xfrm>
          <a:prstGeom prst="ellipse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3670250" y="6186488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708350" y="6681788"/>
            <a:ext cx="1647751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documento</a:t>
            </a:r>
            <a:endParaRPr lang="en-US" sz="1275" dirty="0"/>
          </a:p>
        </p:txBody>
      </p:sp>
      <p:sp>
        <p:nvSpPr>
          <p:cNvPr id="53" name="Text 51"/>
          <p:cNvSpPr/>
          <p:nvPr/>
        </p:nvSpPr>
        <p:spPr>
          <a:xfrm>
            <a:off x="3708350" y="7009433"/>
            <a:ext cx="11752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+ Biometría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369025" y="5967413"/>
            <a:ext cx="2708300" cy="3633788"/>
          </a:xfrm>
          <a:prstGeom prst="roundRect">
            <a:avLst>
              <a:gd name="adj" fmla="val 703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5" name="Shape 53"/>
          <p:cNvSpPr/>
          <p:nvPr/>
        </p:nvSpPr>
        <p:spPr>
          <a:xfrm>
            <a:off x="6550000" y="6186488"/>
            <a:ext cx="361950" cy="361950"/>
          </a:xfrm>
          <a:prstGeom prst="ellipse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6" name="Text 54"/>
          <p:cNvSpPr/>
          <p:nvPr/>
        </p:nvSpPr>
        <p:spPr>
          <a:xfrm>
            <a:off x="6511900" y="6186488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550000" y="6681788"/>
            <a:ext cx="1716584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crediticia</a:t>
            </a:r>
            <a:endParaRPr lang="en-US" sz="1275" dirty="0"/>
          </a:p>
        </p:txBody>
      </p:sp>
      <p:sp>
        <p:nvSpPr>
          <p:cNvPr id="58" name="Text 56"/>
          <p:cNvSpPr/>
          <p:nvPr/>
        </p:nvSpPr>
        <p:spPr>
          <a:xfrm>
            <a:off x="6550000" y="7009433"/>
            <a:ext cx="93136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auto.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210675" y="5967413"/>
            <a:ext cx="2708225" cy="3633788"/>
          </a:xfrm>
          <a:prstGeom prst="roundRect">
            <a:avLst>
              <a:gd name="adj" fmla="val 703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0" name="Shape 58"/>
          <p:cNvSpPr/>
          <p:nvPr/>
        </p:nvSpPr>
        <p:spPr>
          <a:xfrm>
            <a:off x="9391650" y="6186488"/>
            <a:ext cx="361950" cy="361950"/>
          </a:xfrm>
          <a:prstGeom prst="ellipse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1" name="Text 59"/>
          <p:cNvSpPr/>
          <p:nvPr/>
        </p:nvSpPr>
        <p:spPr>
          <a:xfrm>
            <a:off x="9353550" y="6186488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9391650" y="6681788"/>
            <a:ext cx="1973014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Aprobación instantánea</a:t>
            </a:r>
            <a:endParaRPr lang="en-US" sz="1275" dirty="0"/>
          </a:p>
        </p:txBody>
      </p:sp>
      <p:sp>
        <p:nvSpPr>
          <p:cNvPr id="63" name="Text 61"/>
          <p:cNvSpPr/>
          <p:nvPr/>
        </p:nvSpPr>
        <p:spPr>
          <a:xfrm>
            <a:off x="9391650" y="7009433"/>
            <a:ext cx="11510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&lt; 1 min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12052250" y="5967413"/>
            <a:ext cx="2708300" cy="3633788"/>
          </a:xfrm>
          <a:prstGeom prst="roundRect">
            <a:avLst>
              <a:gd name="adj" fmla="val 703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5" name="Shape 63"/>
          <p:cNvSpPr/>
          <p:nvPr/>
        </p:nvSpPr>
        <p:spPr>
          <a:xfrm>
            <a:off x="12233225" y="6186488"/>
            <a:ext cx="361950" cy="361950"/>
          </a:xfrm>
          <a:prstGeom prst="ellipse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6" name="Text 64"/>
          <p:cNvSpPr/>
          <p:nvPr/>
        </p:nvSpPr>
        <p:spPr>
          <a:xfrm>
            <a:off x="12195125" y="6186488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2233225" y="6681788"/>
            <a:ext cx="1802755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Emisión tarjeta virtual</a:t>
            </a:r>
            <a:endParaRPr lang="en-US" sz="1275" dirty="0"/>
          </a:p>
        </p:txBody>
      </p:sp>
      <p:sp>
        <p:nvSpPr>
          <p:cNvPr id="68" name="Text 66"/>
          <p:cNvSpPr/>
          <p:nvPr/>
        </p:nvSpPr>
        <p:spPr>
          <a:xfrm>
            <a:off x="12233225" y="7009433"/>
            <a:ext cx="911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Tokenización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14893900" y="5967413"/>
            <a:ext cx="2708300" cy="3633788"/>
          </a:xfrm>
          <a:prstGeom prst="roundRect">
            <a:avLst>
              <a:gd name="adj" fmla="val 703"/>
            </a:avLst>
          </a:prstGeom>
          <a:solidFill>
            <a:srgbClr val="0E0E0E"/>
          </a:solidFill>
          <a:ln w="9525">
            <a:solidFill>
              <a:srgbClr val="E041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0" name="Shape 68"/>
          <p:cNvSpPr/>
          <p:nvPr/>
        </p:nvSpPr>
        <p:spPr>
          <a:xfrm>
            <a:off x="15074875" y="6186488"/>
            <a:ext cx="361950" cy="361950"/>
          </a:xfrm>
          <a:prstGeom prst="ellipse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1" name="Text 69"/>
          <p:cNvSpPr/>
          <p:nvPr/>
        </p:nvSpPr>
        <p:spPr>
          <a:xfrm>
            <a:off x="15036775" y="6186488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15074875" y="6681788"/>
            <a:ext cx="1374279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consumo</a:t>
            </a:r>
            <a:endParaRPr lang="en-US" sz="1275" dirty="0"/>
          </a:p>
        </p:txBody>
      </p:sp>
      <p:sp>
        <p:nvSpPr>
          <p:cNvPr id="73" name="Text 71"/>
          <p:cNvSpPr/>
          <p:nvPr/>
        </p:nvSpPr>
        <p:spPr>
          <a:xfrm>
            <a:off x="15074875" y="7009433"/>
            <a:ext cx="90189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digital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685800" y="9867900"/>
            <a:ext cx="189517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JOURNEY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16031021" y="9867900"/>
            <a:ext cx="164737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PASOS × 2 CVPS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106728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Capturar Valor — Estrategia de Monetización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5920219" y="361950"/>
            <a:ext cx="175818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</a:t>
            </a:r>
            <a:r>
              <a:rPr lang="en-US" sz="1050" b="1" kern="0" spc="23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23 · TALLER 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990600"/>
            <a:ext cx="16916400" cy="3810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8324850" cy="8458200"/>
          </a:xfrm>
          <a:prstGeom prst="roundRect">
            <a:avLst>
              <a:gd name="adj" fmla="val 229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000125" y="1419225"/>
            <a:ext cx="7927086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CVP1 — REDUCCIÓN DE COSTOS Y EFICIENCIA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000125" y="1785938"/>
            <a:ext cx="792708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TIPO: REDUCCIÓN DE COSTOS OPERACIONALES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00125" y="2147888"/>
            <a:ext cx="76962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000125" y="2347913"/>
            <a:ext cx="792708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 Call Center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0125" y="2652713"/>
            <a:ext cx="692899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addressable (90% del gasto)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84455" y="2652713"/>
            <a:ext cx="9880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1,350,000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0125" y="2862263"/>
            <a:ext cx="692899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por GenAI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84455" y="2862263"/>
            <a:ext cx="9880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0125" y="3319463"/>
            <a:ext cx="134213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 ANUAL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810375" y="3148013"/>
            <a:ext cx="196215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472,500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00125" y="3695700"/>
            <a:ext cx="76962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000125" y="3895725"/>
            <a:ext cx="792708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 TI Legacy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00125" y="4200525"/>
            <a:ext cx="692899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84455" y="4200525"/>
            <a:ext cx="9880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1,000,000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0125" y="4410075"/>
            <a:ext cx="692899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por canal digital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84455" y="4410075"/>
            <a:ext cx="9880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00125" y="4867275"/>
            <a:ext cx="134213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 ANUAL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6810375" y="4695825"/>
            <a:ext cx="196215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100,000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000125" y="8482013"/>
            <a:ext cx="7696200" cy="842963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1228725" y="8829675"/>
            <a:ext cx="257130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BENEFICIO ANUAL CVP1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6330330" y="8691563"/>
            <a:ext cx="221359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572,500</a:t>
            </a:r>
            <a:endParaRPr lang="en-US" sz="2550" dirty="0"/>
          </a:p>
        </p:txBody>
      </p:sp>
      <p:sp>
        <p:nvSpPr>
          <p:cNvPr id="28" name="Shape 26"/>
          <p:cNvSpPr/>
          <p:nvPr/>
        </p:nvSpPr>
        <p:spPr>
          <a:xfrm>
            <a:off x="9277350" y="1143000"/>
            <a:ext cx="8324850" cy="8458200"/>
          </a:xfrm>
          <a:prstGeom prst="roundRect">
            <a:avLst>
              <a:gd name="adj" fmla="val 229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9591675" y="1419225"/>
            <a:ext cx="7927086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CVP2 — GENERACIÓN DE INGRESOS + REDUCCIÓN DE COSTOS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9591675" y="1785938"/>
            <a:ext cx="792708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TIPO: REVENUE GROWTH + COST REDUCTION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91675" y="2147888"/>
            <a:ext cx="76962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9591675" y="2366963"/>
            <a:ext cx="1869877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 en plásticos</a:t>
            </a:r>
            <a:endParaRPr lang="en-US" sz="1275" dirty="0"/>
          </a:p>
        </p:txBody>
      </p:sp>
      <p:sp>
        <p:nvSpPr>
          <p:cNvPr id="33" name="Text 31"/>
          <p:cNvSpPr/>
          <p:nvPr/>
        </p:nvSpPr>
        <p:spPr>
          <a:xfrm>
            <a:off x="9591675" y="2562225"/>
            <a:ext cx="186987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migración a tarjeta virtual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5779130" y="2290763"/>
            <a:ext cx="158494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500,000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591675" y="2886075"/>
            <a:ext cx="76962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9591675" y="3105150"/>
            <a:ext cx="2787096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 en entrega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9591675" y="3300413"/>
            <a:ext cx="278709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entregas evitables por onboarding digital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5504765" y="3028950"/>
            <a:ext cx="18593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1,080,000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591675" y="3624263"/>
            <a:ext cx="76962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9591675" y="3843338"/>
            <a:ext cx="215079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 analistas de riesgo</a:t>
            </a:r>
            <a:endParaRPr lang="en-US" sz="1275" dirty="0"/>
          </a:p>
        </p:txBody>
      </p:sp>
      <p:sp>
        <p:nvSpPr>
          <p:cNvPr id="41" name="Text 39"/>
          <p:cNvSpPr/>
          <p:nvPr/>
        </p:nvSpPr>
        <p:spPr>
          <a:xfrm>
            <a:off x="9591675" y="4038600"/>
            <a:ext cx="21507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automatización scoring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5779130" y="3767138"/>
            <a:ext cx="158494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400,000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591675" y="4362450"/>
            <a:ext cx="76962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9591675" y="4581525"/>
            <a:ext cx="2691211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 incrementales</a:t>
            </a:r>
            <a:endParaRPr lang="en-US" sz="1275" dirty="0"/>
          </a:p>
        </p:txBody>
      </p:sp>
      <p:sp>
        <p:nvSpPr>
          <p:cNvPr id="45" name="Text 43"/>
          <p:cNvSpPr/>
          <p:nvPr/>
        </p:nvSpPr>
        <p:spPr>
          <a:xfrm>
            <a:off x="9591675" y="4776788"/>
            <a:ext cx="269121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 uplift segmento joven × margen EBITDA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5916275" y="4505325"/>
            <a:ext cx="14478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34,000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591675" y="8482013"/>
            <a:ext cx="7696200" cy="842963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9820275" y="8829675"/>
            <a:ext cx="259563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BENEFICIO ANUAL CVP2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14533215" y="8691563"/>
            <a:ext cx="260226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2,014,000</a:t>
            </a:r>
            <a:endParaRPr lang="en-US" sz="2550" dirty="0"/>
          </a:p>
        </p:txBody>
      </p:sp>
      <p:sp>
        <p:nvSpPr>
          <p:cNvPr id="50" name="Text 48"/>
          <p:cNvSpPr/>
          <p:nvPr/>
        </p:nvSpPr>
        <p:spPr>
          <a:xfrm>
            <a:off x="685800" y="9867900"/>
            <a:ext cx="162498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CAPTURAR VALOR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5295662" y="9867900"/>
            <a:ext cx="238273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ANUALIZADOS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932688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· TCO (Total Cost of Ownership)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5920442" y="361950"/>
            <a:ext cx="175795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</a:t>
            </a:r>
            <a:r>
              <a:rPr lang="en-US" sz="1050" b="1" kern="0" spc="23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23 · TALLER 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990600"/>
            <a:ext cx="16916400" cy="3810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16916400" cy="3400425"/>
          </a:xfrm>
          <a:prstGeom prst="roundRect">
            <a:avLst>
              <a:gd name="adj" fmla="val 560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95325" y="1152525"/>
            <a:ext cx="16897350" cy="47625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695325" y="1609725"/>
            <a:ext cx="12325350" cy="1905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962025" y="1323975"/>
            <a:ext cx="1216171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DE INVERSIÓN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13020675" y="1609725"/>
            <a:ext cx="1143000" cy="1905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3192125" y="1323975"/>
            <a:ext cx="876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14163675" y="1609725"/>
            <a:ext cx="1524000" cy="1905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4335125" y="1323975"/>
            <a:ext cx="1257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15687675" y="1609725"/>
            <a:ext cx="1905000" cy="1905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15878175" y="1323975"/>
            <a:ext cx="14478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825" b="1" kern="0" spc="165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MONTO USD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695325" y="2205038"/>
            <a:ext cx="123253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962025" y="1819275"/>
            <a:ext cx="12161710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e implementación Asistente GenAI Omnicanal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13020675" y="2205038"/>
            <a:ext cx="1143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13192125" y="1819275"/>
            <a:ext cx="876300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14163675" y="2205038"/>
            <a:ext cx="1524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14335125" y="1819275"/>
            <a:ext cx="1257300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CVP1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15687675" y="2205038"/>
            <a:ext cx="1905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15878175" y="1819275"/>
            <a:ext cx="1447800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$220,000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695325" y="2786063"/>
            <a:ext cx="123253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962025" y="2405063"/>
            <a:ext cx="121617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Originación digital + tarjeta virtual + integraciones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13020675" y="2786063"/>
            <a:ext cx="1143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13192125" y="2405063"/>
            <a:ext cx="8763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14163675" y="2786063"/>
            <a:ext cx="1524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14335125" y="2405063"/>
            <a:ext cx="12573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CVP2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15687675" y="2786063"/>
            <a:ext cx="1905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15878175" y="2405063"/>
            <a:ext cx="1447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$250,000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695325" y="3367088"/>
            <a:ext cx="123253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962025" y="2986088"/>
            <a:ext cx="121617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Compliance, change management y entrenamiento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13020675" y="3367088"/>
            <a:ext cx="1143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13192125" y="2986088"/>
            <a:ext cx="8763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14163675" y="3367088"/>
            <a:ext cx="1524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14335125" y="2986088"/>
            <a:ext cx="12573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CVP1+2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15687675" y="3367088"/>
            <a:ext cx="1905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15878175" y="2986088"/>
            <a:ext cx="1447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$60,000</a:t>
            </a:r>
            <a:endParaRPr lang="en-US" sz="1125" dirty="0"/>
          </a:p>
        </p:txBody>
      </p:sp>
      <p:sp>
        <p:nvSpPr>
          <p:cNvPr id="40" name="Shape 38"/>
          <p:cNvSpPr/>
          <p:nvPr/>
        </p:nvSpPr>
        <p:spPr>
          <a:xfrm>
            <a:off x="695325" y="3948112"/>
            <a:ext cx="123253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962025" y="3567113"/>
            <a:ext cx="121617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Licencias SaaS / LLM / Omnicanal (mensual × 5 años)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>
            <a:off x="13020675" y="3948112"/>
            <a:ext cx="1143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13192125" y="3567113"/>
            <a:ext cx="8763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</a:t>
            </a:r>
            <a:endParaRPr lang="en-US" sz="1125" dirty="0"/>
          </a:p>
        </p:txBody>
      </p:sp>
      <p:sp>
        <p:nvSpPr>
          <p:cNvPr id="44" name="Shape 42"/>
          <p:cNvSpPr/>
          <p:nvPr/>
        </p:nvSpPr>
        <p:spPr>
          <a:xfrm>
            <a:off x="14163675" y="3948112"/>
            <a:ext cx="1524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14335125" y="3567113"/>
            <a:ext cx="12573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</a:t>
            </a:r>
            <a:endParaRPr lang="en-US" sz="1125" dirty="0"/>
          </a:p>
        </p:txBody>
      </p:sp>
      <p:sp>
        <p:nvSpPr>
          <p:cNvPr id="46" name="Shape 44"/>
          <p:cNvSpPr/>
          <p:nvPr/>
        </p:nvSpPr>
        <p:spPr>
          <a:xfrm>
            <a:off x="15687675" y="3948112"/>
            <a:ext cx="1905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15878175" y="3567113"/>
            <a:ext cx="1447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$1,080,000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962025" y="4148137"/>
            <a:ext cx="12161710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Infraestructura, monitoreo y seguridad (mensual × 5 años)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13192125" y="4148137"/>
            <a:ext cx="876300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14335125" y="4148137"/>
            <a:ext cx="1257300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</a:t>
            </a:r>
            <a:endParaRPr lang="en-US" sz="1125" dirty="0"/>
          </a:p>
        </p:txBody>
      </p:sp>
      <p:sp>
        <p:nvSpPr>
          <p:cNvPr id="51" name="Text 49"/>
          <p:cNvSpPr/>
          <p:nvPr/>
        </p:nvSpPr>
        <p:spPr>
          <a:xfrm>
            <a:off x="15878175" y="4148137"/>
            <a:ext cx="1447800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$300,000</a:t>
            </a:r>
            <a:endParaRPr lang="en-US" sz="1125" dirty="0"/>
          </a:p>
        </p:txBody>
      </p:sp>
      <p:sp>
        <p:nvSpPr>
          <p:cNvPr id="52" name="Shape 50"/>
          <p:cNvSpPr/>
          <p:nvPr/>
        </p:nvSpPr>
        <p:spPr>
          <a:xfrm>
            <a:off x="685800" y="4772025"/>
            <a:ext cx="16916400" cy="900113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990600" y="5141119"/>
            <a:ext cx="257063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TOTAL (5 AÑOS)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4474205" y="4981575"/>
            <a:ext cx="2907891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2,140,000</a:t>
            </a:r>
            <a:endParaRPr lang="en-US" sz="2850" dirty="0"/>
          </a:p>
        </p:txBody>
      </p:sp>
      <p:sp>
        <p:nvSpPr>
          <p:cNvPr id="55" name="Shape 53"/>
          <p:cNvSpPr/>
          <p:nvPr/>
        </p:nvSpPr>
        <p:spPr>
          <a:xfrm>
            <a:off x="685800" y="5900738"/>
            <a:ext cx="4100513" cy="1438275"/>
          </a:xfrm>
          <a:prstGeom prst="rect">
            <a:avLst/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6" name="Text 54"/>
          <p:cNvSpPr/>
          <p:nvPr/>
        </p:nvSpPr>
        <p:spPr>
          <a:xfrm>
            <a:off x="1841599" y="6176963"/>
            <a:ext cx="178884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93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$530K</a:t>
            </a:r>
            <a:endParaRPr lang="en-US" sz="4650" dirty="0"/>
          </a:p>
        </p:txBody>
      </p:sp>
      <p:sp>
        <p:nvSpPr>
          <p:cNvPr id="57" name="Text 55"/>
          <p:cNvSpPr/>
          <p:nvPr/>
        </p:nvSpPr>
        <p:spPr>
          <a:xfrm>
            <a:off x="2106290" y="6900863"/>
            <a:ext cx="12595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TOTAL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957763" y="5900738"/>
            <a:ext cx="4100513" cy="1438275"/>
          </a:xfrm>
          <a:prstGeom prst="rect">
            <a:avLst/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9" name="Text 57"/>
          <p:cNvSpPr/>
          <p:nvPr/>
        </p:nvSpPr>
        <p:spPr>
          <a:xfrm>
            <a:off x="6113562" y="6176963"/>
            <a:ext cx="178884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93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$276K</a:t>
            </a:r>
            <a:endParaRPr lang="en-US" sz="4650" dirty="0"/>
          </a:p>
        </p:txBody>
      </p:sp>
      <p:sp>
        <p:nvSpPr>
          <p:cNvPr id="60" name="Text 58"/>
          <p:cNvSpPr/>
          <p:nvPr/>
        </p:nvSpPr>
        <p:spPr>
          <a:xfrm>
            <a:off x="6417394" y="6900863"/>
            <a:ext cx="118124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ANUAL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9229725" y="5900738"/>
            <a:ext cx="4100513" cy="1438275"/>
          </a:xfrm>
          <a:prstGeom prst="rect">
            <a:avLst/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2" name="Text 60"/>
          <p:cNvSpPr/>
          <p:nvPr/>
        </p:nvSpPr>
        <p:spPr>
          <a:xfrm>
            <a:off x="10043071" y="6176963"/>
            <a:ext cx="247382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93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$1,380K</a:t>
            </a:r>
            <a:endParaRPr lang="en-US" sz="4650" dirty="0"/>
          </a:p>
        </p:txBody>
      </p:sp>
      <p:sp>
        <p:nvSpPr>
          <p:cNvPr id="63" name="Text 61"/>
          <p:cNvSpPr/>
          <p:nvPr/>
        </p:nvSpPr>
        <p:spPr>
          <a:xfrm>
            <a:off x="10659070" y="6900863"/>
            <a:ext cx="124174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5 AÑOS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13501688" y="5900738"/>
            <a:ext cx="4100513" cy="1438275"/>
          </a:xfrm>
          <a:prstGeom prst="rect">
            <a:avLst/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5" name="Text 63"/>
          <p:cNvSpPr/>
          <p:nvPr/>
        </p:nvSpPr>
        <p:spPr>
          <a:xfrm>
            <a:off x="14530536" y="6176963"/>
            <a:ext cx="204281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93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Años</a:t>
            </a:r>
            <a:endParaRPr lang="en-US" sz="4650" dirty="0"/>
          </a:p>
        </p:txBody>
      </p:sp>
      <p:sp>
        <p:nvSpPr>
          <p:cNvPr id="66" name="Text 64"/>
          <p:cNvSpPr/>
          <p:nvPr/>
        </p:nvSpPr>
        <p:spPr>
          <a:xfrm>
            <a:off x="15015418" y="6900863"/>
            <a:ext cx="10730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685800" y="9867900"/>
            <a:ext cx="14628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16561817" y="9867900"/>
            <a:ext cx="111658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 5 AÑOS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899975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Financieros · Evaluación a 5 Años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5949538" y="361950"/>
            <a:ext cx="172886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</a:t>
            </a:r>
            <a:r>
              <a:rPr lang="en-US" sz="1050" b="1" kern="0" spc="23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23 · TALLER 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990600"/>
            <a:ext cx="16916400" cy="3810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4100513" cy="1438275"/>
          </a:xfrm>
          <a:prstGeom prst="rect">
            <a:avLst/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148478" y="1419225"/>
            <a:ext cx="317515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93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12.2M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2238301" y="2143125"/>
            <a:ext cx="99551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 (NPV)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57763" y="1143000"/>
            <a:ext cx="4100513" cy="1438275"/>
          </a:xfrm>
          <a:prstGeom prst="rect">
            <a:avLst/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942335" y="1419225"/>
            <a:ext cx="213129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93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254.7%</a:t>
            </a:r>
            <a:endParaRPr lang="en-US" sz="4650" dirty="0"/>
          </a:p>
        </p:txBody>
      </p:sp>
      <p:sp>
        <p:nvSpPr>
          <p:cNvPr id="11" name="Text 9"/>
          <p:cNvSpPr/>
          <p:nvPr/>
        </p:nvSpPr>
        <p:spPr>
          <a:xfrm>
            <a:off x="6820719" y="2143125"/>
            <a:ext cx="3746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229725" y="1143000"/>
            <a:ext cx="4100513" cy="1438275"/>
          </a:xfrm>
          <a:prstGeom prst="rect">
            <a:avLst/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0478839" y="1419225"/>
            <a:ext cx="160228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93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1</a:t>
            </a:r>
            <a:endParaRPr lang="en-US" sz="4650" dirty="0"/>
          </a:p>
        </p:txBody>
      </p:sp>
      <p:sp>
        <p:nvSpPr>
          <p:cNvPr id="14" name="Text 12"/>
          <p:cNvSpPr/>
          <p:nvPr/>
        </p:nvSpPr>
        <p:spPr>
          <a:xfrm>
            <a:off x="10843320" y="2143125"/>
            <a:ext cx="87324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50" b="1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3501688" y="1143000"/>
            <a:ext cx="4100513" cy="1438275"/>
          </a:xfrm>
          <a:prstGeom prst="rect">
            <a:avLst/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14657487" y="1419225"/>
            <a:ext cx="178884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93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89.3%</a:t>
            </a:r>
            <a:endParaRPr lang="en-US" sz="4650" dirty="0"/>
          </a:p>
        </p:txBody>
      </p:sp>
      <p:sp>
        <p:nvSpPr>
          <p:cNvPr id="17" name="Text 15"/>
          <p:cNvSpPr/>
          <p:nvPr/>
        </p:nvSpPr>
        <p:spPr>
          <a:xfrm>
            <a:off x="14887129" y="2143125"/>
            <a:ext cx="132955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&amp; RUNNING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" y="2790825"/>
            <a:ext cx="16916400" cy="2047875"/>
          </a:xfrm>
          <a:prstGeom prst="roundRect">
            <a:avLst>
              <a:gd name="adj" fmla="val 930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695325" y="2800350"/>
            <a:ext cx="16897350" cy="40005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695325" y="3181350"/>
            <a:ext cx="3102173" cy="1905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3797498" y="3181350"/>
            <a:ext cx="2193801" cy="1905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873698" y="2933700"/>
            <a:ext cx="196520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825" b="1" kern="0" spc="149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</a:t>
            </a:r>
            <a:endParaRPr lang="en-US" sz="825" dirty="0"/>
          </a:p>
        </p:txBody>
      </p:sp>
      <p:sp>
        <p:nvSpPr>
          <p:cNvPr id="23" name="Shape 21"/>
          <p:cNvSpPr/>
          <p:nvPr/>
        </p:nvSpPr>
        <p:spPr>
          <a:xfrm>
            <a:off x="5991299" y="3181350"/>
            <a:ext cx="1734369" cy="1905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6067499" y="2933700"/>
            <a:ext cx="150576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825" b="1" kern="0" spc="149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1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7725668" y="3181350"/>
            <a:ext cx="1874639" cy="1905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7801868" y="2933700"/>
            <a:ext cx="164603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825" b="1" kern="0" spc="149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2</a:t>
            </a:r>
            <a:endParaRPr lang="en-US" sz="825" dirty="0"/>
          </a:p>
        </p:txBody>
      </p:sp>
      <p:sp>
        <p:nvSpPr>
          <p:cNvPr id="27" name="Shape 25"/>
          <p:cNvSpPr/>
          <p:nvPr/>
        </p:nvSpPr>
        <p:spPr>
          <a:xfrm>
            <a:off x="9600307" y="3181350"/>
            <a:ext cx="1874639" cy="1905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9676507" y="2933700"/>
            <a:ext cx="164603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825" b="1" kern="0" spc="149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3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11474946" y="3181350"/>
            <a:ext cx="1874639" cy="1905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11551146" y="2933700"/>
            <a:ext cx="164603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825" b="1" kern="0" spc="149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4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13349585" y="3181350"/>
            <a:ext cx="1874639" cy="1905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13425785" y="2933700"/>
            <a:ext cx="164603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825" b="1" kern="0" spc="149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5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15224224" y="3181350"/>
            <a:ext cx="2368451" cy="1905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15376624" y="2933700"/>
            <a:ext cx="198745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825" b="1" kern="0" spc="149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695325" y="3738563"/>
            <a:ext cx="310217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923925" y="3371850"/>
            <a:ext cx="2738039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</a:t>
            </a:r>
            <a:endParaRPr lang="en-US" sz="1125" dirty="0"/>
          </a:p>
        </p:txBody>
      </p:sp>
      <p:sp>
        <p:nvSpPr>
          <p:cNvPr id="37" name="Shape 35"/>
          <p:cNvSpPr/>
          <p:nvPr/>
        </p:nvSpPr>
        <p:spPr>
          <a:xfrm>
            <a:off x="3797498" y="3738563"/>
            <a:ext cx="219380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3873698" y="3371850"/>
            <a:ext cx="1965201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−$760K</a:t>
            </a:r>
            <a:endParaRPr lang="en-US" sz="1125" dirty="0"/>
          </a:p>
        </p:txBody>
      </p:sp>
      <p:sp>
        <p:nvSpPr>
          <p:cNvPr id="39" name="Shape 37"/>
          <p:cNvSpPr/>
          <p:nvPr/>
        </p:nvSpPr>
        <p:spPr>
          <a:xfrm>
            <a:off x="5991299" y="3738563"/>
            <a:ext cx="1734369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6067499" y="3371850"/>
            <a:ext cx="1505769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−$276K</a:t>
            </a:r>
            <a:endParaRPr lang="en-US" sz="1125" dirty="0"/>
          </a:p>
        </p:txBody>
      </p:sp>
      <p:sp>
        <p:nvSpPr>
          <p:cNvPr id="41" name="Shape 39"/>
          <p:cNvSpPr/>
          <p:nvPr/>
        </p:nvSpPr>
        <p:spPr>
          <a:xfrm>
            <a:off x="7725668" y="3738563"/>
            <a:ext cx="1874639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7801868" y="3371850"/>
            <a:ext cx="1646039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−$276K</a:t>
            </a:r>
            <a:endParaRPr lang="en-US" sz="1125" dirty="0"/>
          </a:p>
        </p:txBody>
      </p:sp>
      <p:sp>
        <p:nvSpPr>
          <p:cNvPr id="43" name="Shape 41"/>
          <p:cNvSpPr/>
          <p:nvPr/>
        </p:nvSpPr>
        <p:spPr>
          <a:xfrm>
            <a:off x="9600307" y="3738563"/>
            <a:ext cx="1874639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9676507" y="3371850"/>
            <a:ext cx="1646039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−$276K</a:t>
            </a:r>
            <a:endParaRPr lang="en-US" sz="1125" dirty="0"/>
          </a:p>
        </p:txBody>
      </p:sp>
      <p:sp>
        <p:nvSpPr>
          <p:cNvPr id="45" name="Shape 43"/>
          <p:cNvSpPr/>
          <p:nvPr/>
        </p:nvSpPr>
        <p:spPr>
          <a:xfrm>
            <a:off x="11474946" y="3738563"/>
            <a:ext cx="1874639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11551146" y="3371850"/>
            <a:ext cx="1646039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−$276K</a:t>
            </a:r>
            <a:endParaRPr lang="en-US" sz="1125" dirty="0"/>
          </a:p>
        </p:txBody>
      </p:sp>
      <p:sp>
        <p:nvSpPr>
          <p:cNvPr id="47" name="Shape 45"/>
          <p:cNvSpPr/>
          <p:nvPr/>
        </p:nvSpPr>
        <p:spPr>
          <a:xfrm>
            <a:off x="13349585" y="3738563"/>
            <a:ext cx="1874639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13425785" y="3371850"/>
            <a:ext cx="1646039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−$276K</a:t>
            </a:r>
            <a:endParaRPr lang="en-US" sz="1125" dirty="0"/>
          </a:p>
        </p:txBody>
      </p:sp>
      <p:sp>
        <p:nvSpPr>
          <p:cNvPr id="49" name="Shape 47"/>
          <p:cNvSpPr/>
          <p:nvPr/>
        </p:nvSpPr>
        <p:spPr>
          <a:xfrm>
            <a:off x="15224224" y="3738563"/>
            <a:ext cx="236845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15376624" y="3371850"/>
            <a:ext cx="1987451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−$1,588K</a:t>
            </a:r>
            <a:endParaRPr lang="en-US" sz="1125" dirty="0"/>
          </a:p>
        </p:txBody>
      </p:sp>
      <p:sp>
        <p:nvSpPr>
          <p:cNvPr id="51" name="Shape 49"/>
          <p:cNvSpPr/>
          <p:nvPr/>
        </p:nvSpPr>
        <p:spPr>
          <a:xfrm>
            <a:off x="695325" y="4281488"/>
            <a:ext cx="310217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2" name="Text 50"/>
          <p:cNvSpPr/>
          <p:nvPr/>
        </p:nvSpPr>
        <p:spPr>
          <a:xfrm>
            <a:off x="923925" y="3919537"/>
            <a:ext cx="27380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</a:t>
            </a:r>
            <a:endParaRPr lang="en-US" sz="1125" dirty="0"/>
          </a:p>
        </p:txBody>
      </p:sp>
      <p:sp>
        <p:nvSpPr>
          <p:cNvPr id="53" name="Shape 51"/>
          <p:cNvSpPr/>
          <p:nvPr/>
        </p:nvSpPr>
        <p:spPr>
          <a:xfrm>
            <a:off x="3797498" y="4281488"/>
            <a:ext cx="219380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3873698" y="3919537"/>
            <a:ext cx="19652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125" dirty="0"/>
          </a:p>
        </p:txBody>
      </p:sp>
      <p:sp>
        <p:nvSpPr>
          <p:cNvPr id="55" name="Shape 53"/>
          <p:cNvSpPr/>
          <p:nvPr/>
        </p:nvSpPr>
        <p:spPr>
          <a:xfrm>
            <a:off x="5991299" y="4281488"/>
            <a:ext cx="1734369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6" name="Text 54"/>
          <p:cNvSpPr/>
          <p:nvPr/>
        </p:nvSpPr>
        <p:spPr>
          <a:xfrm>
            <a:off x="6067499" y="3919537"/>
            <a:ext cx="150576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$1,149K</a:t>
            </a:r>
            <a:endParaRPr lang="en-US" sz="1125" dirty="0"/>
          </a:p>
        </p:txBody>
      </p:sp>
      <p:sp>
        <p:nvSpPr>
          <p:cNvPr id="57" name="Shape 55"/>
          <p:cNvSpPr/>
          <p:nvPr/>
        </p:nvSpPr>
        <p:spPr>
          <a:xfrm>
            <a:off x="7725668" y="4281488"/>
            <a:ext cx="1874639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8" name="Text 56"/>
          <p:cNvSpPr/>
          <p:nvPr/>
        </p:nvSpPr>
        <p:spPr>
          <a:xfrm>
            <a:off x="7801868" y="3919537"/>
            <a:ext cx="16460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$1,896K</a:t>
            </a:r>
            <a:endParaRPr lang="en-US" sz="1125" dirty="0"/>
          </a:p>
        </p:txBody>
      </p:sp>
      <p:sp>
        <p:nvSpPr>
          <p:cNvPr id="59" name="Shape 57"/>
          <p:cNvSpPr/>
          <p:nvPr/>
        </p:nvSpPr>
        <p:spPr>
          <a:xfrm>
            <a:off x="9600307" y="4281488"/>
            <a:ext cx="1874639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0" name="Text 58"/>
          <p:cNvSpPr/>
          <p:nvPr/>
        </p:nvSpPr>
        <p:spPr>
          <a:xfrm>
            <a:off x="9676507" y="3919537"/>
            <a:ext cx="16460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$2,587K</a:t>
            </a:r>
            <a:endParaRPr lang="en-US" sz="1125" dirty="0"/>
          </a:p>
        </p:txBody>
      </p:sp>
      <p:sp>
        <p:nvSpPr>
          <p:cNvPr id="61" name="Shape 59"/>
          <p:cNvSpPr/>
          <p:nvPr/>
        </p:nvSpPr>
        <p:spPr>
          <a:xfrm>
            <a:off x="11474946" y="4281488"/>
            <a:ext cx="1874639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2" name="Text 60"/>
          <p:cNvSpPr/>
          <p:nvPr/>
        </p:nvSpPr>
        <p:spPr>
          <a:xfrm>
            <a:off x="11551146" y="3919537"/>
            <a:ext cx="16460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$2,587K</a:t>
            </a:r>
            <a:endParaRPr lang="en-US" sz="1125" dirty="0"/>
          </a:p>
        </p:txBody>
      </p:sp>
      <p:sp>
        <p:nvSpPr>
          <p:cNvPr id="63" name="Shape 61"/>
          <p:cNvSpPr/>
          <p:nvPr/>
        </p:nvSpPr>
        <p:spPr>
          <a:xfrm>
            <a:off x="13349585" y="4281488"/>
            <a:ext cx="1874639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4" name="Text 62"/>
          <p:cNvSpPr/>
          <p:nvPr/>
        </p:nvSpPr>
        <p:spPr>
          <a:xfrm>
            <a:off x="13425785" y="3919537"/>
            <a:ext cx="16460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$2,587K</a:t>
            </a:r>
            <a:endParaRPr lang="en-US" sz="1125" dirty="0"/>
          </a:p>
        </p:txBody>
      </p:sp>
      <p:sp>
        <p:nvSpPr>
          <p:cNvPr id="65" name="Shape 63"/>
          <p:cNvSpPr/>
          <p:nvPr/>
        </p:nvSpPr>
        <p:spPr>
          <a:xfrm>
            <a:off x="15224224" y="4281488"/>
            <a:ext cx="236845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6" name="Text 64"/>
          <p:cNvSpPr/>
          <p:nvPr/>
        </p:nvSpPr>
        <p:spPr>
          <a:xfrm>
            <a:off x="15376624" y="3919537"/>
            <a:ext cx="198745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$5,632K</a:t>
            </a:r>
            <a:endParaRPr lang="en-US" sz="1125" dirty="0"/>
          </a:p>
        </p:txBody>
      </p:sp>
      <p:sp>
        <p:nvSpPr>
          <p:cNvPr id="67" name="Shape 65"/>
          <p:cNvSpPr/>
          <p:nvPr/>
        </p:nvSpPr>
        <p:spPr>
          <a:xfrm>
            <a:off x="695325" y="4291013"/>
            <a:ext cx="16897350" cy="538163"/>
          </a:xfrm>
          <a:prstGeom prst="rect">
            <a:avLst/>
          </a:prstGeom>
          <a:solidFill>
            <a:srgbClr val="E0413A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8" name="Text 66"/>
          <p:cNvSpPr/>
          <p:nvPr/>
        </p:nvSpPr>
        <p:spPr>
          <a:xfrm>
            <a:off x="923925" y="4462463"/>
            <a:ext cx="2738039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Cashflow Neto</a:t>
            </a:r>
            <a:endParaRPr lang="en-US" sz="1125" dirty="0"/>
          </a:p>
        </p:txBody>
      </p:sp>
      <p:sp>
        <p:nvSpPr>
          <p:cNvPr id="69" name="Text 67"/>
          <p:cNvSpPr/>
          <p:nvPr/>
        </p:nvSpPr>
        <p:spPr>
          <a:xfrm>
            <a:off x="3873698" y="4462463"/>
            <a:ext cx="1965201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−$760K</a:t>
            </a:r>
            <a:endParaRPr lang="en-US" sz="1125" dirty="0"/>
          </a:p>
        </p:txBody>
      </p:sp>
      <p:sp>
        <p:nvSpPr>
          <p:cNvPr id="70" name="Text 68"/>
          <p:cNvSpPr/>
          <p:nvPr/>
        </p:nvSpPr>
        <p:spPr>
          <a:xfrm>
            <a:off x="6067499" y="4462463"/>
            <a:ext cx="1505769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$873K</a:t>
            </a:r>
            <a:endParaRPr lang="en-US" sz="1125" dirty="0"/>
          </a:p>
        </p:txBody>
      </p:sp>
      <p:sp>
        <p:nvSpPr>
          <p:cNvPr id="71" name="Text 69"/>
          <p:cNvSpPr/>
          <p:nvPr/>
        </p:nvSpPr>
        <p:spPr>
          <a:xfrm>
            <a:off x="7801868" y="4462463"/>
            <a:ext cx="1646039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$1,620K</a:t>
            </a:r>
            <a:endParaRPr lang="en-US" sz="1125" dirty="0"/>
          </a:p>
        </p:txBody>
      </p:sp>
      <p:sp>
        <p:nvSpPr>
          <p:cNvPr id="72" name="Text 70"/>
          <p:cNvSpPr/>
          <p:nvPr/>
        </p:nvSpPr>
        <p:spPr>
          <a:xfrm>
            <a:off x="9676507" y="4462463"/>
            <a:ext cx="1646039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$2,311K</a:t>
            </a:r>
            <a:endParaRPr lang="en-US" sz="1125" dirty="0"/>
          </a:p>
        </p:txBody>
      </p:sp>
      <p:sp>
        <p:nvSpPr>
          <p:cNvPr id="73" name="Text 71"/>
          <p:cNvSpPr/>
          <p:nvPr/>
        </p:nvSpPr>
        <p:spPr>
          <a:xfrm>
            <a:off x="11551146" y="4462463"/>
            <a:ext cx="1646039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$2,311K</a:t>
            </a:r>
            <a:endParaRPr lang="en-US" sz="1125" dirty="0"/>
          </a:p>
        </p:txBody>
      </p:sp>
      <p:sp>
        <p:nvSpPr>
          <p:cNvPr id="74" name="Text 72"/>
          <p:cNvSpPr/>
          <p:nvPr/>
        </p:nvSpPr>
        <p:spPr>
          <a:xfrm>
            <a:off x="13425785" y="4462463"/>
            <a:ext cx="1646039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$2,311K</a:t>
            </a:r>
            <a:endParaRPr lang="en-US" sz="1125" dirty="0"/>
          </a:p>
        </p:txBody>
      </p:sp>
      <p:sp>
        <p:nvSpPr>
          <p:cNvPr id="75" name="Text 73"/>
          <p:cNvSpPr/>
          <p:nvPr/>
        </p:nvSpPr>
        <p:spPr>
          <a:xfrm>
            <a:off x="15376624" y="4462463"/>
            <a:ext cx="1987451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$4,044K</a:t>
            </a:r>
            <a:endParaRPr lang="en-US" sz="1125" dirty="0"/>
          </a:p>
        </p:txBody>
      </p:sp>
      <p:sp>
        <p:nvSpPr>
          <p:cNvPr id="76" name="Shape 74"/>
          <p:cNvSpPr/>
          <p:nvPr/>
        </p:nvSpPr>
        <p:spPr>
          <a:xfrm>
            <a:off x="685800" y="5048250"/>
            <a:ext cx="8353425" cy="2366963"/>
          </a:xfrm>
          <a:prstGeom prst="roundRect">
            <a:avLst>
              <a:gd name="adj" fmla="val 805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7" name="Text 75"/>
          <p:cNvSpPr/>
          <p:nvPr/>
        </p:nvSpPr>
        <p:spPr>
          <a:xfrm>
            <a:off x="1000125" y="5324475"/>
            <a:ext cx="795651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ADOPCIÓN DE BENEFICIOS</a:t>
            </a:r>
            <a:endParaRPr lang="en-US" sz="1275" dirty="0"/>
          </a:p>
        </p:txBody>
      </p:sp>
      <p:sp>
        <p:nvSpPr>
          <p:cNvPr id="78" name="Text 76"/>
          <p:cNvSpPr/>
          <p:nvPr/>
        </p:nvSpPr>
        <p:spPr>
          <a:xfrm>
            <a:off x="1000125" y="5691188"/>
            <a:ext cx="7956518" cy="2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CVP1: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(Año 1) → 85% (Año 2) → 100% (Año 3–5)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1000125" y="6037883"/>
            <a:ext cx="7956518" cy="2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CVP2: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(Año 1) → 70% (Año 2) → 100% (Año 3–5)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9248775" y="5048250"/>
            <a:ext cx="8353425" cy="2366963"/>
          </a:xfrm>
          <a:prstGeom prst="roundRect">
            <a:avLst>
              <a:gd name="adj" fmla="val 805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1" name="Text 79"/>
          <p:cNvSpPr/>
          <p:nvPr/>
        </p:nvSpPr>
        <p:spPr>
          <a:xfrm>
            <a:off x="9563100" y="5324475"/>
            <a:ext cx="795651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EN P&amp;L (ESCENARIO IMPLEMENTADO)</a:t>
            </a:r>
            <a:endParaRPr lang="en-US" sz="1275" dirty="0"/>
          </a:p>
        </p:txBody>
      </p:sp>
      <p:sp>
        <p:nvSpPr>
          <p:cNvPr id="82" name="Text 80"/>
          <p:cNvSpPr/>
          <p:nvPr/>
        </p:nvSpPr>
        <p:spPr>
          <a:xfrm>
            <a:off x="9786417" y="5724525"/>
            <a:ext cx="8597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Ingresos:</a:t>
            </a:r>
            <a:endParaRPr lang="en-US" sz="1500" dirty="0"/>
          </a:p>
        </p:txBody>
      </p:sp>
      <p:sp>
        <p:nvSpPr>
          <p:cNvPr id="83" name="Text 81"/>
          <p:cNvSpPr/>
          <p:nvPr/>
        </p:nvSpPr>
        <p:spPr>
          <a:xfrm>
            <a:off x="10684297" y="5691188"/>
            <a:ext cx="18866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12.5M → 13.7M</a:t>
            </a:r>
            <a:endParaRPr lang="en-US" sz="1500" dirty="0"/>
          </a:p>
        </p:txBody>
      </p:sp>
      <p:sp>
        <p:nvSpPr>
          <p:cNvPr id="84" name="Text 82"/>
          <p:cNvSpPr/>
          <p:nvPr/>
        </p:nvSpPr>
        <p:spPr>
          <a:xfrm>
            <a:off x="12609016" y="5724525"/>
            <a:ext cx="74853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(+9.8%)</a:t>
            </a:r>
            <a:endParaRPr lang="en-US" sz="1500" dirty="0"/>
          </a:p>
        </p:txBody>
      </p:sp>
      <p:sp>
        <p:nvSpPr>
          <p:cNvPr id="85" name="Text 83"/>
          <p:cNvSpPr/>
          <p:nvPr/>
        </p:nvSpPr>
        <p:spPr>
          <a:xfrm>
            <a:off x="9786417" y="6115050"/>
            <a:ext cx="8172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EBITDA:</a:t>
            </a:r>
            <a:endParaRPr lang="en-US" sz="1500" dirty="0"/>
          </a:p>
        </p:txBody>
      </p:sp>
      <p:sp>
        <p:nvSpPr>
          <p:cNvPr id="86" name="Text 84"/>
          <p:cNvSpPr/>
          <p:nvPr/>
        </p:nvSpPr>
        <p:spPr>
          <a:xfrm>
            <a:off x="10641732" y="6081713"/>
            <a:ext cx="16747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1.7M → 5.5M</a:t>
            </a:r>
            <a:endParaRPr lang="en-US" sz="1500" dirty="0"/>
          </a:p>
        </p:txBody>
      </p:sp>
      <p:sp>
        <p:nvSpPr>
          <p:cNvPr id="87" name="Text 85"/>
          <p:cNvSpPr/>
          <p:nvPr/>
        </p:nvSpPr>
        <p:spPr>
          <a:xfrm>
            <a:off x="12354595" y="6115050"/>
            <a:ext cx="8015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(+224%)</a:t>
            </a:r>
            <a:endParaRPr lang="en-US" sz="1500" dirty="0"/>
          </a:p>
        </p:txBody>
      </p:sp>
      <p:sp>
        <p:nvSpPr>
          <p:cNvPr id="88" name="Text 86"/>
          <p:cNvSpPr/>
          <p:nvPr/>
        </p:nvSpPr>
        <p:spPr>
          <a:xfrm>
            <a:off x="9786417" y="6505575"/>
            <a:ext cx="12197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Utilidad Neta:</a:t>
            </a:r>
            <a:endParaRPr lang="en-US" sz="1500" dirty="0"/>
          </a:p>
        </p:txBody>
      </p:sp>
      <p:sp>
        <p:nvSpPr>
          <p:cNvPr id="89" name="Text 87"/>
          <p:cNvSpPr/>
          <p:nvPr/>
        </p:nvSpPr>
        <p:spPr>
          <a:xfrm>
            <a:off x="11044312" y="6472238"/>
            <a:ext cx="16961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975K → 3.4M</a:t>
            </a:r>
            <a:endParaRPr lang="en-US" sz="1500" dirty="0"/>
          </a:p>
        </p:txBody>
      </p:sp>
      <p:sp>
        <p:nvSpPr>
          <p:cNvPr id="90" name="Text 88"/>
          <p:cNvSpPr/>
          <p:nvPr/>
        </p:nvSpPr>
        <p:spPr>
          <a:xfrm>
            <a:off x="12778532" y="6505575"/>
            <a:ext cx="8015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(+244%)</a:t>
            </a:r>
            <a:endParaRPr lang="en-US" sz="1500" dirty="0"/>
          </a:p>
        </p:txBody>
      </p:sp>
      <p:sp>
        <p:nvSpPr>
          <p:cNvPr id="91" name="Text 89"/>
          <p:cNvSpPr/>
          <p:nvPr/>
        </p:nvSpPr>
        <p:spPr>
          <a:xfrm>
            <a:off x="9786417" y="6896100"/>
            <a:ext cx="11987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neto:</a:t>
            </a:r>
            <a:endParaRPr lang="en-US" sz="1500" dirty="0"/>
          </a:p>
        </p:txBody>
      </p:sp>
      <p:sp>
        <p:nvSpPr>
          <p:cNvPr id="92" name="Text 90"/>
          <p:cNvSpPr/>
          <p:nvPr/>
        </p:nvSpPr>
        <p:spPr>
          <a:xfrm>
            <a:off x="11023253" y="6862763"/>
            <a:ext cx="13469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 → 24.4%</a:t>
            </a:r>
            <a:endParaRPr lang="en-US" sz="1500" dirty="0"/>
          </a:p>
        </p:txBody>
      </p:sp>
      <p:sp>
        <p:nvSpPr>
          <p:cNvPr id="93" name="Text 91"/>
          <p:cNvSpPr/>
          <p:nvPr/>
        </p:nvSpPr>
        <p:spPr>
          <a:xfrm>
            <a:off x="685800" y="9867900"/>
            <a:ext cx="14628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16106403" y="9867900"/>
            <a:ext cx="157199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CASHFLOW + P&amp;L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464155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 Estratégica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5981908" y="361950"/>
            <a:ext cx="16964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</a:t>
            </a:r>
            <a:r>
              <a:rPr lang="en-US" sz="1050" b="1" kern="0" spc="23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23 · TALLER 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990600"/>
            <a:ext cx="16916400" cy="3810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8324850" cy="6562725"/>
          </a:xfrm>
          <a:prstGeom prst="roundRect">
            <a:avLst>
              <a:gd name="adj" fmla="val 290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000125" y="1419225"/>
            <a:ext cx="7927086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CVP1 · ASISTENTE GENAI OMNICANAL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000125" y="1785938"/>
            <a:ext cx="7927086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experiencia del cliente con resolución 24/7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000125" y="2242170"/>
            <a:ext cx="7927086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presión operativa del call center en 35%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1000125" y="2698403"/>
            <a:ext cx="7927086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Aumenta eficiencia con automatización GenAI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293614" y="3183210"/>
            <a:ext cx="1277169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 anual: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2627933" y="3154635"/>
            <a:ext cx="1396380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572,500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1000125" y="7072313"/>
            <a:ext cx="76962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000125" y="7291388"/>
            <a:ext cx="792708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DE COSTOS OPERACIONALES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277350" y="1143000"/>
            <a:ext cx="8324850" cy="6562725"/>
          </a:xfrm>
          <a:prstGeom prst="roundRect">
            <a:avLst>
              <a:gd name="adj" fmla="val 290"/>
            </a:avLst>
          </a:prstGeom>
          <a:solidFill>
            <a:srgbClr val="0E0E0E"/>
          </a:solidFill>
          <a:ln w="9525">
            <a:solidFill>
              <a:srgbClr val="E041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9591675" y="1419225"/>
            <a:ext cx="7927086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CVP2 · ORIGINACIÓN DIGITAL + TARJETA VIRTUAL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9591675" y="1785938"/>
            <a:ext cx="7927086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Impulsa crecimiento en segmento joven (18–25)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9591675" y="2242170"/>
            <a:ext cx="7927086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conversión con onboarding inmediato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9591675" y="2698403"/>
            <a:ext cx="7927086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Posiciona a la empresa como líder digital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9885164" y="3183210"/>
            <a:ext cx="1277169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 anual: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11219483" y="3154635"/>
            <a:ext cx="1636440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2,014,000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9591675" y="7072313"/>
            <a:ext cx="76962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9591675" y="7291388"/>
            <a:ext cx="792708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+ COST REDUCTION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" y="7972425"/>
            <a:ext cx="16916400" cy="1628775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85241" y="8258175"/>
            <a:ext cx="1671751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975" b="1" kern="0" spc="29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COMBINADO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982066" y="8634413"/>
            <a:ext cx="3202213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2.14M</a:t>
            </a:r>
            <a:endParaRPr lang="en-US" sz="2850" dirty="0"/>
          </a:p>
        </p:txBody>
      </p:sp>
      <p:sp>
        <p:nvSpPr>
          <p:cNvPr id="27" name="Text 25"/>
          <p:cNvSpPr/>
          <p:nvPr/>
        </p:nvSpPr>
        <p:spPr>
          <a:xfrm>
            <a:off x="982066" y="9191625"/>
            <a:ext cx="320221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TOTAL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4309095" y="8634413"/>
            <a:ext cx="9525" cy="681038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272129" y="8634413"/>
            <a:ext cx="3192403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2.59M</a:t>
            </a:r>
            <a:endParaRPr lang="en-US" sz="2850" dirty="0"/>
          </a:p>
        </p:txBody>
      </p:sp>
      <p:sp>
        <p:nvSpPr>
          <p:cNvPr id="30" name="Text 28"/>
          <p:cNvSpPr/>
          <p:nvPr/>
        </p:nvSpPr>
        <p:spPr>
          <a:xfrm>
            <a:off x="4272129" y="9191625"/>
            <a:ext cx="319240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 ANUAL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7589490" y="8634413"/>
            <a:ext cx="9525" cy="681038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7552524" y="8634413"/>
            <a:ext cx="3192403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12.2M</a:t>
            </a:r>
            <a:endParaRPr lang="en-US" sz="2850" dirty="0"/>
          </a:p>
        </p:txBody>
      </p:sp>
      <p:sp>
        <p:nvSpPr>
          <p:cNvPr id="33" name="Text 31"/>
          <p:cNvSpPr/>
          <p:nvPr/>
        </p:nvSpPr>
        <p:spPr>
          <a:xfrm>
            <a:off x="7552524" y="9191625"/>
            <a:ext cx="319240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 5 AÑOS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10869885" y="8634413"/>
            <a:ext cx="9525" cy="681038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10832919" y="8634413"/>
            <a:ext cx="3192403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254.7%</a:t>
            </a:r>
            <a:endParaRPr lang="en-US" sz="2850" dirty="0"/>
          </a:p>
        </p:txBody>
      </p:sp>
      <p:sp>
        <p:nvSpPr>
          <p:cNvPr id="36" name="Text 34"/>
          <p:cNvSpPr/>
          <p:nvPr/>
        </p:nvSpPr>
        <p:spPr>
          <a:xfrm>
            <a:off x="10832919" y="9191625"/>
            <a:ext cx="319240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14150280" y="8634413"/>
            <a:ext cx="9525" cy="681038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14113314" y="8634413"/>
            <a:ext cx="319240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1</a:t>
            </a:r>
            <a:endParaRPr lang="en-US" sz="2850" dirty="0"/>
          </a:p>
        </p:txBody>
      </p:sp>
      <p:sp>
        <p:nvSpPr>
          <p:cNvPr id="39" name="Text 37"/>
          <p:cNvSpPr/>
          <p:nvPr/>
        </p:nvSpPr>
        <p:spPr>
          <a:xfrm>
            <a:off x="14113314" y="9148763"/>
            <a:ext cx="319240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685800" y="9867900"/>
            <a:ext cx="17095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· TALLER 1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5242604" y="9867900"/>
            <a:ext cx="243579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+ CAPTURAR VALOR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262313"/>
            <a:ext cx="254086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488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BLOQUE SIGUIENTE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333500" y="3810000"/>
            <a:ext cx="7805448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0" b="1" kern="0" spc="-7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2</a:t>
            </a:r>
            <a:endParaRPr lang="en-US" sz="18000" dirty="0"/>
          </a:p>
        </p:txBody>
      </p:sp>
      <p:sp>
        <p:nvSpPr>
          <p:cNvPr id="4" name="Shape 2"/>
          <p:cNvSpPr/>
          <p:nvPr/>
        </p:nvSpPr>
        <p:spPr>
          <a:xfrm>
            <a:off x="1333500" y="6324600"/>
            <a:ext cx="2286000" cy="5715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333500" y="6838950"/>
            <a:ext cx="135768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 Digital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72185" y="6838950"/>
            <a:ext cx="137040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UX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23594" y="6838950"/>
            <a:ext cx="215867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Solución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340658" y="609600"/>
            <a:ext cx="69004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kern="0" spc="33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23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4832285" y="9553575"/>
            <a:ext cx="219841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kern="0" spc="247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TODO TARJETAS S.A.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712114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Congruencia para Digital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4894049" y="361950"/>
            <a:ext cx="278939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</a:t>
            </a:r>
            <a:r>
              <a:rPr lang="en-US" sz="1050" b="1" kern="0" spc="23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23 · TALLER 2 · CULTURA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990600"/>
            <a:ext cx="16916400" cy="3810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5524500" cy="4143375"/>
          </a:xfrm>
          <a:prstGeom prst="roundRect">
            <a:avLst>
              <a:gd name="adj" fmla="val 460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23925" y="1362075"/>
            <a:ext cx="519969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923925" y="1690688"/>
            <a:ext cx="519969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Procesamiento transaccional tradicional. Call center como canal primario. OPEX &gt; 2%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923925" y="2145953"/>
            <a:ext cx="5199698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como palanca de autoservicio. Originación 100% digital. OPEX reducido vía automatización</a:t>
            </a:r>
            <a:endParaRPr lang="en-US" sz="1013" dirty="0"/>
          </a:p>
        </p:txBody>
      </p:sp>
      <p:sp>
        <p:nvSpPr>
          <p:cNvPr id="10" name="Shape 8"/>
          <p:cNvSpPr/>
          <p:nvPr/>
        </p:nvSpPr>
        <p:spPr>
          <a:xfrm>
            <a:off x="923925" y="2781226"/>
            <a:ext cx="5048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923925" y="2866951"/>
            <a:ext cx="5199698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CONDUCTAS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OKRs por CVP. A/B testing de prompts. Revisión semanal de métricas. Benchmarking vs fintechs</a:t>
            </a:r>
            <a:endParaRPr lang="en-US" sz="1013" dirty="0"/>
          </a:p>
        </p:txBody>
      </p:sp>
      <p:sp>
        <p:nvSpPr>
          <p:cNvPr id="12" name="Shape 10"/>
          <p:cNvSpPr/>
          <p:nvPr/>
        </p:nvSpPr>
        <p:spPr>
          <a:xfrm>
            <a:off x="6381750" y="1143000"/>
            <a:ext cx="5524500" cy="4143375"/>
          </a:xfrm>
          <a:prstGeom prst="roundRect">
            <a:avLst>
              <a:gd name="adj" fmla="val 460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619875" y="1362075"/>
            <a:ext cx="519969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6619875" y="1690688"/>
            <a:ext cx="5199698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Aversión al riesgo. Cumplimiento SLA call center. Cambios requieren múltiples aprobaciones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6619875" y="2325960"/>
            <a:ext cx="5199698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Tolerante al fallo controlado. Experimentación en sandbox. Cultura de aprendizaje continuo</a:t>
            </a:r>
            <a:endParaRPr lang="en-US" sz="1013" dirty="0"/>
          </a:p>
        </p:txBody>
      </p:sp>
      <p:sp>
        <p:nvSpPr>
          <p:cNvPr id="16" name="Shape 14"/>
          <p:cNvSpPr/>
          <p:nvPr/>
        </p:nvSpPr>
        <p:spPr>
          <a:xfrm>
            <a:off x="6619875" y="2961233"/>
            <a:ext cx="5048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619875" y="3046958"/>
            <a:ext cx="5199698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CONDUCTAS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Post-mortems sin culpa. Retrospectivas quincenales. Scrum para squads CVP. Policy de no culpa</a:t>
            </a:r>
            <a:endParaRPr lang="en-US" sz="1013" dirty="0"/>
          </a:p>
        </p:txBody>
      </p:sp>
      <p:sp>
        <p:nvSpPr>
          <p:cNvPr id="18" name="Shape 16"/>
          <p:cNvSpPr/>
          <p:nvPr/>
        </p:nvSpPr>
        <p:spPr>
          <a:xfrm>
            <a:off x="12077700" y="1143000"/>
            <a:ext cx="5524500" cy="4143375"/>
          </a:xfrm>
          <a:prstGeom prst="roundRect">
            <a:avLst>
              <a:gd name="adj" fmla="val 460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12315825" y="1362075"/>
            <a:ext cx="519969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12315825" y="1690688"/>
            <a:ext cx="519969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Especialistas call center. Operadores scoring manual. Analistas documentos físicos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12315825" y="2145953"/>
            <a:ext cx="5199698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Ingenieros IA/ML. Prompt Engineering. Diseñadores UX. Product Owners con visión de negocio</a:t>
            </a:r>
            <a:endParaRPr lang="en-US" sz="1013" dirty="0"/>
          </a:p>
        </p:txBody>
      </p:sp>
      <p:sp>
        <p:nvSpPr>
          <p:cNvPr id="22" name="Shape 20"/>
          <p:cNvSpPr/>
          <p:nvPr/>
        </p:nvSpPr>
        <p:spPr>
          <a:xfrm>
            <a:off x="12315825" y="2781226"/>
            <a:ext cx="5048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12315825" y="2866951"/>
            <a:ext cx="519969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CONDUCTAS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Reskilling agentes call center. Tours of duty 6 meses. Evaluación 360° criterio digital</a:t>
            </a:r>
            <a:endParaRPr lang="en-US" sz="1013" dirty="0"/>
          </a:p>
        </p:txBody>
      </p:sp>
      <p:sp>
        <p:nvSpPr>
          <p:cNvPr id="24" name="Shape 22"/>
          <p:cNvSpPr/>
          <p:nvPr/>
        </p:nvSpPr>
        <p:spPr>
          <a:xfrm>
            <a:off x="685800" y="5457825"/>
            <a:ext cx="5524500" cy="4143375"/>
          </a:xfrm>
          <a:prstGeom prst="roundRect">
            <a:avLst>
              <a:gd name="adj" fmla="val 460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923925" y="5676900"/>
            <a:ext cx="519969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923925" y="6043613"/>
            <a:ext cx="79042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50" b="1" kern="0" spc="1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▶ TO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23925" y="6261720"/>
            <a:ext cx="5199698" cy="218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PQR manual por teléfono </a:t>
            </a:r>
            <a:r>
              <a:rPr lang="en-US" sz="1013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Autoservicio GenAI 24/7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923925" y="6517928"/>
            <a:ext cx="5199698" cy="218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Digitación manual </a:t>
            </a:r>
            <a:r>
              <a:rPr lang="en-US" sz="1013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+ biometría automática KYC</a:t>
            </a:r>
            <a:endParaRPr lang="en-US" sz="1013" dirty="0"/>
          </a:p>
        </p:txBody>
      </p:sp>
      <p:sp>
        <p:nvSpPr>
          <p:cNvPr id="29" name="Text 27"/>
          <p:cNvSpPr/>
          <p:nvPr/>
        </p:nvSpPr>
        <p:spPr>
          <a:xfrm>
            <a:off x="923925" y="6774135"/>
            <a:ext cx="5199698" cy="218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2–3 días </a:t>
            </a:r>
            <a:r>
              <a:rPr lang="en-US" sz="1013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automático en &lt; 60 segundos</a:t>
            </a:r>
            <a:endParaRPr lang="en-US" sz="1013" dirty="0"/>
          </a:p>
        </p:txBody>
      </p:sp>
      <p:sp>
        <p:nvSpPr>
          <p:cNvPr id="30" name="Shape 28"/>
          <p:cNvSpPr/>
          <p:nvPr/>
        </p:nvSpPr>
        <p:spPr>
          <a:xfrm>
            <a:off x="923925" y="7087493"/>
            <a:ext cx="5048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923925" y="7173218"/>
            <a:ext cx="519969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CONDUCTAS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Sprints 2 semanas por CVP. CI/CD bot. A/B testing flujos. Retraining modelo c/30 días</a:t>
            </a:r>
            <a:endParaRPr lang="en-US" sz="1013" dirty="0"/>
          </a:p>
        </p:txBody>
      </p:sp>
      <p:sp>
        <p:nvSpPr>
          <p:cNvPr id="32" name="Shape 30"/>
          <p:cNvSpPr/>
          <p:nvPr/>
        </p:nvSpPr>
        <p:spPr>
          <a:xfrm>
            <a:off x="6381750" y="5457825"/>
            <a:ext cx="11220450" cy="4143375"/>
          </a:xfrm>
          <a:prstGeom prst="roundRect">
            <a:avLst>
              <a:gd name="adj" fmla="val 460"/>
            </a:avLst>
          </a:prstGeom>
          <a:solidFill>
            <a:srgbClr val="0E0E0E"/>
          </a:solidFill>
          <a:ln w="9525">
            <a:solidFill>
              <a:srgbClr val="E041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6619875" y="5676900"/>
            <a:ext cx="11066526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</a:t>
            </a:r>
            <a:endParaRPr lang="en-US" sz="1275" dirty="0"/>
          </a:p>
        </p:txBody>
      </p:sp>
      <p:sp>
        <p:nvSpPr>
          <p:cNvPr id="34" name="Text 32"/>
          <p:cNvSpPr/>
          <p:nvPr/>
        </p:nvSpPr>
        <p:spPr>
          <a:xfrm>
            <a:off x="6619875" y="6043613"/>
            <a:ext cx="79042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50" b="1" kern="0" spc="1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▶ TO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619875" y="6261720"/>
            <a:ext cx="5415534" cy="218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(Call Center + TI + Riesgo en silos) </a:t>
            </a:r>
            <a:r>
              <a:rPr lang="en-US" sz="1013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Squads autónomos CVP1 + CVP2</a:t>
            </a:r>
            <a:endParaRPr lang="en-US" sz="1013" dirty="0"/>
          </a:p>
        </p:txBody>
      </p:sp>
      <p:sp>
        <p:nvSpPr>
          <p:cNvPr id="36" name="Text 34"/>
          <p:cNvSpPr/>
          <p:nvPr/>
        </p:nvSpPr>
        <p:spPr>
          <a:xfrm>
            <a:off x="6619875" y="6517928"/>
            <a:ext cx="5415534" cy="218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 Legacy separado del negocio </a:t>
            </a:r>
            <a:r>
              <a:rPr lang="en-US" sz="1013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Owners con P&amp;L propio</a:t>
            </a:r>
            <a:endParaRPr lang="en-US" sz="1013" dirty="0"/>
          </a:p>
        </p:txBody>
      </p:sp>
      <p:sp>
        <p:nvSpPr>
          <p:cNvPr id="37" name="Text 35"/>
          <p:cNvSpPr/>
          <p:nvPr/>
        </p:nvSpPr>
        <p:spPr>
          <a:xfrm>
            <a:off x="6619875" y="6774135"/>
            <a:ext cx="5415534" cy="218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centralizadas </a:t>
            </a:r>
            <a:r>
              <a:rPr lang="en-US" sz="1013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Liderazgo distribuido</a:t>
            </a:r>
            <a:endParaRPr lang="en-US" sz="1013" dirty="0"/>
          </a:p>
        </p:txBody>
      </p:sp>
      <p:sp>
        <p:nvSpPr>
          <p:cNvPr id="38" name="Shape 36"/>
          <p:cNvSpPr/>
          <p:nvPr/>
        </p:nvSpPr>
        <p:spPr>
          <a:xfrm>
            <a:off x="12106275" y="6005513"/>
            <a:ext cx="9525" cy="94863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12344400" y="6043613"/>
            <a:ext cx="86387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50" b="1" kern="0" spc="1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CONDUCTAS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2344400" y="6261720"/>
            <a:ext cx="517026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Squads/Tribes por CVP. Guilds: Arquitectura, IA, UX. Chapter Data Engineering compartido.</a:t>
            </a:r>
            <a:endParaRPr lang="en-US" sz="1013" dirty="0"/>
          </a:p>
        </p:txBody>
      </p:sp>
      <p:sp>
        <p:nvSpPr>
          <p:cNvPr id="41" name="Text 39"/>
          <p:cNvSpPr/>
          <p:nvPr/>
        </p:nvSpPr>
        <p:spPr>
          <a:xfrm>
            <a:off x="685800" y="9867900"/>
            <a:ext cx="416688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 DIGITAL · MODELO DE CONGRUENCIA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5491892" y="9867900"/>
            <a:ext cx="218650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PALANCAS FROM → TO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1066275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 Digital · Madurez y Riesgos de No Evolucionar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4889882" y="361950"/>
            <a:ext cx="279368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</a:t>
            </a:r>
            <a:r>
              <a:rPr lang="en-US" sz="1050" b="1" kern="0" spc="23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23 · TALLER 2 · CULTURA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990600"/>
            <a:ext cx="16916400" cy="3810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8925967" cy="8458200"/>
          </a:xfrm>
          <a:prstGeom prst="roundRect">
            <a:avLst>
              <a:gd name="adj" fmla="val 225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42975" y="1381125"/>
            <a:ext cx="8663965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 MADUREZ DIGITAL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942975" y="1747838"/>
            <a:ext cx="16002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DIMENSIÓN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619375" y="1747838"/>
            <a:ext cx="11239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▶ OBJETIVO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19525" y="1747838"/>
            <a:ext cx="570111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INICIATIVA CLAVE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942975" y="2071688"/>
            <a:ext cx="8411617" cy="9525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942975" y="2176463"/>
            <a:ext cx="16002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13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AGILIDAD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2619375" y="2176463"/>
            <a:ext cx="11239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 ▶ 4.0</a:t>
            </a:r>
            <a:endParaRPr lang="en-US" sz="938" dirty="0"/>
          </a:p>
        </p:txBody>
      </p:sp>
      <p:sp>
        <p:nvSpPr>
          <p:cNvPr id="14" name="Text 12"/>
          <p:cNvSpPr/>
          <p:nvPr/>
        </p:nvSpPr>
        <p:spPr>
          <a:xfrm>
            <a:off x="3819525" y="2176463"/>
            <a:ext cx="57011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Ciclos 4–6 semanas ▶ Scrum por CVP + CI/CD + cambios en &lt; 2 días. Eliminar comités de aprobación</a:t>
            </a:r>
            <a:endParaRPr lang="en-US" sz="938" dirty="0"/>
          </a:p>
        </p:txBody>
      </p:sp>
      <p:sp>
        <p:nvSpPr>
          <p:cNvPr id="15" name="Shape 13"/>
          <p:cNvSpPr/>
          <p:nvPr/>
        </p:nvSpPr>
        <p:spPr>
          <a:xfrm>
            <a:off x="942975" y="2433638"/>
            <a:ext cx="841161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942975" y="2538413"/>
            <a:ext cx="16002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13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APETITO AL RIESGO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2619375" y="2538413"/>
            <a:ext cx="11239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▶ 4.0</a:t>
            </a:r>
            <a:endParaRPr lang="en-US" sz="938" dirty="0"/>
          </a:p>
        </p:txBody>
      </p:sp>
      <p:sp>
        <p:nvSpPr>
          <p:cNvPr id="18" name="Text 16"/>
          <p:cNvSpPr/>
          <p:nvPr/>
        </p:nvSpPr>
        <p:spPr>
          <a:xfrm>
            <a:off x="3819525" y="2538413"/>
            <a:ext cx="57011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Aversión total al error ▶ Sandbox IA + política no-culpa + USD 60K budget innovación independiente</a:t>
            </a:r>
            <a:endParaRPr lang="en-US" sz="938" dirty="0"/>
          </a:p>
        </p:txBody>
      </p:sp>
      <p:sp>
        <p:nvSpPr>
          <p:cNvPr id="19" name="Shape 17"/>
          <p:cNvSpPr/>
          <p:nvPr/>
        </p:nvSpPr>
        <p:spPr>
          <a:xfrm>
            <a:off x="942975" y="2795588"/>
            <a:ext cx="841161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942975" y="2900363"/>
            <a:ext cx="16002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13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 DE DECISIONES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2619375" y="2900363"/>
            <a:ext cx="11239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▶ 4.5</a:t>
            </a:r>
            <a:endParaRPr lang="en-US" sz="938" dirty="0"/>
          </a:p>
        </p:txBody>
      </p:sp>
      <p:sp>
        <p:nvSpPr>
          <p:cNvPr id="22" name="Text 20"/>
          <p:cNvSpPr/>
          <p:nvPr/>
        </p:nvSpPr>
        <p:spPr>
          <a:xfrm>
            <a:off x="3819525" y="2900363"/>
            <a:ext cx="57011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manuales sin datos ▶ Panel tiempo real por CVP + PO autónomo + scoring explicable</a:t>
            </a:r>
            <a:endParaRPr lang="en-US" sz="938" dirty="0"/>
          </a:p>
        </p:txBody>
      </p:sp>
      <p:sp>
        <p:nvSpPr>
          <p:cNvPr id="23" name="Shape 21"/>
          <p:cNvSpPr/>
          <p:nvPr/>
        </p:nvSpPr>
        <p:spPr>
          <a:xfrm>
            <a:off x="942975" y="3157538"/>
            <a:ext cx="841161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942975" y="3262313"/>
            <a:ext cx="16002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13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LIDERAZGO</a:t>
            </a:r>
            <a:endParaRPr lang="en-US" sz="1013" dirty="0"/>
          </a:p>
        </p:txBody>
      </p:sp>
      <p:sp>
        <p:nvSpPr>
          <p:cNvPr id="25" name="Text 23"/>
          <p:cNvSpPr/>
          <p:nvPr/>
        </p:nvSpPr>
        <p:spPr>
          <a:xfrm>
            <a:off x="2619375" y="3262313"/>
            <a:ext cx="11239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 ▶ 4.0</a:t>
            </a:r>
            <a:endParaRPr lang="en-US" sz="938" dirty="0"/>
          </a:p>
        </p:txBody>
      </p:sp>
      <p:sp>
        <p:nvSpPr>
          <p:cNvPr id="26" name="Text 24"/>
          <p:cNvSpPr/>
          <p:nvPr/>
        </p:nvSpPr>
        <p:spPr>
          <a:xfrm>
            <a:off x="3819525" y="3262313"/>
            <a:ext cx="57011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 centraliza todos los cambios ▶ Liderazgo ágil + autoridad real PO + eliminar capa intermedia</a:t>
            </a:r>
            <a:endParaRPr lang="en-US" sz="938" dirty="0"/>
          </a:p>
        </p:txBody>
      </p:sp>
      <p:sp>
        <p:nvSpPr>
          <p:cNvPr id="27" name="Shape 25"/>
          <p:cNvSpPr/>
          <p:nvPr/>
        </p:nvSpPr>
        <p:spPr>
          <a:xfrm>
            <a:off x="942975" y="3519488"/>
            <a:ext cx="841161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942975" y="3624263"/>
            <a:ext cx="1600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13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PASIÓN POR EL TRABAJO</a:t>
            </a:r>
            <a:endParaRPr lang="en-US" sz="1013" dirty="0"/>
          </a:p>
        </p:txBody>
      </p:sp>
      <p:sp>
        <p:nvSpPr>
          <p:cNvPr id="29" name="Text 27"/>
          <p:cNvSpPr/>
          <p:nvPr/>
        </p:nvSpPr>
        <p:spPr>
          <a:xfrm>
            <a:off x="2619375" y="3624263"/>
            <a:ext cx="11239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▶ 4.5</a:t>
            </a:r>
            <a:endParaRPr lang="en-US" sz="938" dirty="0"/>
          </a:p>
        </p:txBody>
      </p:sp>
      <p:sp>
        <p:nvSpPr>
          <p:cNvPr id="30" name="Text 28"/>
          <p:cNvSpPr/>
          <p:nvPr/>
        </p:nvSpPr>
        <p:spPr>
          <a:xfrm>
            <a:off x="3819525" y="3624263"/>
            <a:ext cx="570111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rotación call center sin propósito ▶ Agentes como entrenadores IA + misión compartida de eliminar esperas</a:t>
            </a:r>
            <a:endParaRPr lang="en-US" sz="938" dirty="0"/>
          </a:p>
        </p:txBody>
      </p:sp>
      <p:sp>
        <p:nvSpPr>
          <p:cNvPr id="31" name="Shape 29"/>
          <p:cNvSpPr/>
          <p:nvPr/>
        </p:nvSpPr>
        <p:spPr>
          <a:xfrm>
            <a:off x="942975" y="4033837"/>
            <a:ext cx="841161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942975" y="4138613"/>
            <a:ext cx="16002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13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 DE TRABAJO</a:t>
            </a:r>
            <a:endParaRPr lang="en-US" sz="1013" dirty="0"/>
          </a:p>
        </p:txBody>
      </p:sp>
      <p:sp>
        <p:nvSpPr>
          <p:cNvPr id="33" name="Text 31"/>
          <p:cNvSpPr/>
          <p:nvPr/>
        </p:nvSpPr>
        <p:spPr>
          <a:xfrm>
            <a:off x="2619375" y="4138613"/>
            <a:ext cx="11239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▶ 4.5</a:t>
            </a:r>
            <a:endParaRPr lang="en-US" sz="938" dirty="0"/>
          </a:p>
        </p:txBody>
      </p:sp>
      <p:sp>
        <p:nvSpPr>
          <p:cNvPr id="34" name="Text 32"/>
          <p:cNvSpPr/>
          <p:nvPr/>
        </p:nvSpPr>
        <p:spPr>
          <a:xfrm>
            <a:off x="3819525" y="4138613"/>
            <a:ext cx="570111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Silos sin métricas compartidas ▶ Squads multidisciplinarios + herramientas colaborativas + sesiones mensuales innovación</a:t>
            </a:r>
            <a:endParaRPr lang="en-US" sz="938" dirty="0"/>
          </a:p>
        </p:txBody>
      </p:sp>
      <p:sp>
        <p:nvSpPr>
          <p:cNvPr id="35" name="Shape 33"/>
          <p:cNvSpPr/>
          <p:nvPr/>
        </p:nvSpPr>
        <p:spPr>
          <a:xfrm>
            <a:off x="9840367" y="1143000"/>
            <a:ext cx="7761759" cy="8458200"/>
          </a:xfrm>
          <a:prstGeom prst="roundRect">
            <a:avLst>
              <a:gd name="adj" fmla="val 245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10097542" y="1381125"/>
            <a:ext cx="7464831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 DE NO EVOLUCIONAR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10097542" y="1747838"/>
            <a:ext cx="746483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CORTO PLAZO (0–12 MESES)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10097542" y="1985963"/>
            <a:ext cx="15076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10267355" y="1985963"/>
            <a:ext cx="267136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de talento digital clave </a:t>
            </a: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Perfiles IA/ML migran a fintechs en &lt; 12 meses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10097542" y="2446883"/>
            <a:ext cx="15076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10267355" y="2446883"/>
            <a:ext cx="402685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 USD 472K no se materializa </a:t>
            </a: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center manual sigue absorbiendo PQR que CVP1 debería resolver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10097542" y="2907804"/>
            <a:ext cx="15076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10267355" y="2907804"/>
            <a:ext cx="4214867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Costos operativos duplicados </a:t>
            </a: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digital + call center en paralelo; beneficio financiero CVP1 eliminado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10097542" y="3368725"/>
            <a:ext cx="15076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10267355" y="3368725"/>
            <a:ext cx="4034288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Ventana competitiva CVP2 perdida </a:t>
            </a: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 18–25 años capturado por competidores digitales operativos</a:t>
            </a:r>
            <a:endParaRPr lang="en-US" sz="975" dirty="0"/>
          </a:p>
        </p:txBody>
      </p:sp>
      <p:sp>
        <p:nvSpPr>
          <p:cNvPr id="46" name="Shape 44"/>
          <p:cNvSpPr/>
          <p:nvPr/>
        </p:nvSpPr>
        <p:spPr>
          <a:xfrm>
            <a:off x="10097542" y="3924895"/>
            <a:ext cx="7247409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10097542" y="4105870"/>
            <a:ext cx="746483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MEDIANO PLAZO (1–3 AÑOS)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10097542" y="4343995"/>
            <a:ext cx="15076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10267355" y="4343995"/>
            <a:ext cx="384934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Deuda técnica CVP1 — modelo obsoleto </a:t>
            </a: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cultura iterativa; asistente pierde precisión y genera más fricción</a:t>
            </a:r>
            <a:endParaRPr lang="en-US" sz="975" dirty="0"/>
          </a:p>
        </p:txBody>
      </p:sp>
      <p:sp>
        <p:nvSpPr>
          <p:cNvPr id="50" name="Text 48"/>
          <p:cNvSpPr/>
          <p:nvPr/>
        </p:nvSpPr>
        <p:spPr>
          <a:xfrm>
            <a:off x="10097542" y="4804916"/>
            <a:ext cx="15076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10267355" y="4804916"/>
            <a:ext cx="3257629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2.14M invertidos sin retorno </a:t>
            </a: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 sin comportamientos = retorno cercano a cero</a:t>
            </a:r>
            <a:endParaRPr lang="en-US" sz="975" dirty="0"/>
          </a:p>
        </p:txBody>
      </p:sp>
      <p:sp>
        <p:nvSpPr>
          <p:cNvPr id="52" name="Text 50"/>
          <p:cNvSpPr/>
          <p:nvPr/>
        </p:nvSpPr>
        <p:spPr>
          <a:xfrm>
            <a:off x="10097542" y="5265837"/>
            <a:ext cx="15076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975" dirty="0"/>
          </a:p>
        </p:txBody>
      </p:sp>
      <p:sp>
        <p:nvSpPr>
          <p:cNvPr id="53" name="Text 51"/>
          <p:cNvSpPr/>
          <p:nvPr/>
        </p:nvSpPr>
        <p:spPr>
          <a:xfrm>
            <a:off x="10267355" y="5265837"/>
            <a:ext cx="476028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Disrupción competitiva irreversible </a:t>
            </a: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Fintechs nativas replican CVP1+CVP2 antes de completar la transformación cultural</a:t>
            </a:r>
            <a:endParaRPr lang="en-US" sz="975" dirty="0"/>
          </a:p>
        </p:txBody>
      </p:sp>
      <p:sp>
        <p:nvSpPr>
          <p:cNvPr id="54" name="Text 52"/>
          <p:cNvSpPr/>
          <p:nvPr/>
        </p:nvSpPr>
        <p:spPr>
          <a:xfrm>
            <a:off x="685800" y="9867900"/>
            <a:ext cx="159461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 DIGITAL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5119970" y="9867900"/>
            <a:ext cx="255843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DIMENSIONES · 7 RIESGOS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898388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 Digital Requerida · Análisis FROM–TO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4897174" y="361950"/>
            <a:ext cx="278617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</a:t>
            </a:r>
            <a:r>
              <a:rPr lang="en-US" sz="1050" b="1" kern="0" spc="23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23 · TALLER 2 · CULTURA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990600"/>
            <a:ext cx="16916400" cy="3810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8343900" cy="8458200"/>
          </a:xfrm>
          <a:prstGeom prst="roundRect">
            <a:avLst>
              <a:gd name="adj" fmla="val 228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000125" y="1419225"/>
            <a:ext cx="794670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CVP1 · ASISTENTE GENAI OMNICANAL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000125" y="1957388"/>
            <a:ext cx="79467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Agilidad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0125" y="2262188"/>
            <a:ext cx="7946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FROM: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toman 4–6 semanas de aprobación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0125" y="2481263"/>
            <a:ext cx="7946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TO: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Ciclos 2 semanas, despliegue &lt;2 días, CI/CD activo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00125" y="2814638"/>
            <a:ext cx="7715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000125" y="2995613"/>
            <a:ext cx="79467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0125" y="3300413"/>
            <a:ext cx="7946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FROM: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Aversión al riesgo, cambios por comité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0125" y="3519488"/>
            <a:ext cx="7946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TO: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GenAI, post-mortems sin culpa, iteración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00125" y="3852863"/>
            <a:ext cx="7715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1000125" y="4033837"/>
            <a:ext cx="79467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Orientación a datos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00125" y="4338638"/>
            <a:ext cx="7946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FROM: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históricos, decisiones por intuición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0125" y="4557713"/>
            <a:ext cx="7946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TO: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tiempo real, A/B testing, OKRs por CVP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58300" y="1143000"/>
            <a:ext cx="8343900" cy="8458200"/>
          </a:xfrm>
          <a:prstGeom prst="roundRect">
            <a:avLst>
              <a:gd name="adj" fmla="val 228"/>
            </a:avLst>
          </a:prstGeom>
          <a:solidFill>
            <a:srgbClr val="0E0E0E"/>
          </a:solidFill>
          <a:ln w="9525">
            <a:solidFill>
              <a:srgbClr val="E041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9572625" y="1419225"/>
            <a:ext cx="794670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CVP2 · ORIGINACIÓN 100% DIGITAL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9572625" y="1957388"/>
            <a:ext cx="79467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Talento digital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572625" y="2262188"/>
            <a:ext cx="7946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FROM: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Especialistas call center, operadores scoring manual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572625" y="2481263"/>
            <a:ext cx="7946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TO: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Ingenieros IA/ML, Product Owners, diseñadores UX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72625" y="2814638"/>
            <a:ext cx="7715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9572625" y="2995613"/>
            <a:ext cx="79467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Colaboración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572625" y="3300413"/>
            <a:ext cx="7946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FROM: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Silos verticales: Call Center + TI + Riesgo separados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572625" y="3519488"/>
            <a:ext cx="7946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TO: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Squads autónomos end-to-end con PO, ingeniero y UX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572625" y="3852863"/>
            <a:ext cx="7715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9572625" y="4033837"/>
            <a:ext cx="79467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e innovación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572625" y="4338638"/>
            <a:ext cx="7946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FROM: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manual 2–3 días, validación física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572625" y="4557713"/>
            <a:ext cx="7946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TO: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+ biometría automática, aprobación &lt;60 seg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9867900"/>
            <a:ext cx="26608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 DIGITAL REQUERIDA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5776451" y="9867900"/>
            <a:ext cx="190194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→ TO POR CVP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1000573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 / Validación UX · Benchmark + Heurística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5475744" y="361950"/>
            <a:ext cx="220265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</a:t>
            </a:r>
            <a:r>
              <a:rPr lang="en-US" sz="1050" b="1" kern="0" spc="23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23 · TALLER 2 · UX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990600"/>
            <a:ext cx="16916400" cy="3810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8343900" cy="8458200"/>
          </a:xfrm>
          <a:prstGeom prst="roundRect">
            <a:avLst>
              <a:gd name="adj" fmla="val 228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000125" y="1419225"/>
            <a:ext cx="794670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DE EXPERIENCIA DIGITAL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000125" y="1785938"/>
            <a:ext cx="794670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referentes y atributos clave incorporados a los CVPs: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1000125" y="2105025"/>
            <a:ext cx="28575" cy="511448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181100" y="2162175"/>
            <a:ext cx="776030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Bancolombia </a:t>
            </a: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Banca tradicional, Colombia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1100" y="2386013"/>
            <a:ext cx="7760303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base local — chatbot orienta pero no resuelve, originación con fricción. </a:t>
            </a:r>
            <a:r>
              <a:rPr lang="en-US" sz="97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 superar.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1000125" y="2749823"/>
            <a:ext cx="28575" cy="511448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181100" y="2806973"/>
            <a:ext cx="776030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Nubank </a:t>
            </a: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Neobank regional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1100" y="3030810"/>
            <a:ext cx="7760303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Originación 100% digital &lt;5 min. Self-service nativo 95%. Diseño minimalista. </a:t>
            </a:r>
            <a:r>
              <a:rPr lang="en-US" sz="97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 para CVP1+CVP2.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1000125" y="3394621"/>
            <a:ext cx="28575" cy="511448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1181100" y="3451771"/>
            <a:ext cx="776030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Wealthsimple </a:t>
            </a: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Fintech inversión, Canadá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1100" y="3675608"/>
            <a:ext cx="7760303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progresivo. Lenguaje humano sin jerga. Feedback en tiempo real. Diseño emocional. </a:t>
            </a:r>
            <a:r>
              <a:rPr lang="en-US" sz="97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al CVP2.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1000125" y="4039419"/>
            <a:ext cx="28575" cy="511448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1181100" y="4096569"/>
            <a:ext cx="776030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Acorns </a:t>
            </a: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Fintech ahorro, EE.UU.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1100" y="4320406"/>
            <a:ext cx="7760303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decisión por pantalla. Nudging contextual. Activación de primer uso guiada. </a:t>
            </a:r>
            <a:r>
              <a:rPr lang="en-US" sz="97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a CVP1 + primer consumo CVP2.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1000125" y="4550866"/>
            <a:ext cx="7715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1000125" y="4731841"/>
            <a:ext cx="7946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12 ATRIBUTOS UX DIFERENCIADORES INCORPORADOS.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258300" y="1143000"/>
            <a:ext cx="8343900" cy="8458200"/>
          </a:xfrm>
          <a:prstGeom prst="roundRect">
            <a:avLst>
              <a:gd name="adj" fmla="val 228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24" name="Text 22"/>
          <p:cNvSpPr/>
          <p:nvPr/>
        </p:nvSpPr>
        <p:spPr>
          <a:xfrm>
            <a:off x="9572625" y="1419225"/>
            <a:ext cx="794670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HEURÍSTICA · NIELSEN 10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9572625" y="1785938"/>
            <a:ext cx="7715250" cy="1695450"/>
          </a:xfrm>
          <a:prstGeom prst="rect">
            <a:avLst/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9582150" y="1795463"/>
            <a:ext cx="3168997" cy="3810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12751147" y="1795463"/>
            <a:ext cx="2263601" cy="3810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12865447" y="1928813"/>
            <a:ext cx="203500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CVP1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5014749" y="1795463"/>
            <a:ext cx="2263527" cy="3810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15129049" y="1928813"/>
            <a:ext cx="203492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582150" y="2176463"/>
            <a:ext cx="3168997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9734550" y="2319338"/>
            <a:ext cx="295926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 resueltos</a:t>
            </a:r>
            <a:endParaRPr lang="en-US" sz="1013" dirty="0"/>
          </a:p>
        </p:txBody>
      </p:sp>
      <p:sp>
        <p:nvSpPr>
          <p:cNvPr id="33" name="Shape 31"/>
          <p:cNvSpPr/>
          <p:nvPr/>
        </p:nvSpPr>
        <p:spPr>
          <a:xfrm>
            <a:off x="12751147" y="2176463"/>
            <a:ext cx="2263601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12865447" y="2319338"/>
            <a:ext cx="203500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→ </a:t>
            </a:r>
            <a:r>
              <a:rPr lang="en-US" sz="1013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13" dirty="0"/>
          </a:p>
        </p:txBody>
      </p:sp>
      <p:sp>
        <p:nvSpPr>
          <p:cNvPr id="35" name="Shape 33"/>
          <p:cNvSpPr/>
          <p:nvPr/>
        </p:nvSpPr>
        <p:spPr>
          <a:xfrm>
            <a:off x="15014749" y="2176463"/>
            <a:ext cx="2263527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15129049" y="2319338"/>
            <a:ext cx="203492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→ </a:t>
            </a:r>
            <a:r>
              <a:rPr lang="en-US" sz="1013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13" dirty="0"/>
          </a:p>
        </p:txBody>
      </p:sp>
      <p:sp>
        <p:nvSpPr>
          <p:cNvPr id="37" name="Shape 35"/>
          <p:cNvSpPr/>
          <p:nvPr/>
        </p:nvSpPr>
        <p:spPr>
          <a:xfrm>
            <a:off x="9582150" y="2624138"/>
            <a:ext cx="3168997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9734550" y="2767013"/>
            <a:ext cx="295926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Mejorados en prototipo</a:t>
            </a:r>
            <a:endParaRPr lang="en-US" sz="1013" dirty="0"/>
          </a:p>
        </p:txBody>
      </p:sp>
      <p:sp>
        <p:nvSpPr>
          <p:cNvPr id="39" name="Shape 37"/>
          <p:cNvSpPr/>
          <p:nvPr/>
        </p:nvSpPr>
        <p:spPr>
          <a:xfrm>
            <a:off x="12751147" y="2624138"/>
            <a:ext cx="2263601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12865447" y="2767013"/>
            <a:ext cx="203500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13" dirty="0"/>
          </a:p>
        </p:txBody>
      </p:sp>
      <p:sp>
        <p:nvSpPr>
          <p:cNvPr id="41" name="Shape 39"/>
          <p:cNvSpPr/>
          <p:nvPr/>
        </p:nvSpPr>
        <p:spPr>
          <a:xfrm>
            <a:off x="15014749" y="2624138"/>
            <a:ext cx="2263527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15129049" y="2767013"/>
            <a:ext cx="203492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13" dirty="0"/>
          </a:p>
        </p:txBody>
      </p:sp>
      <p:sp>
        <p:nvSpPr>
          <p:cNvPr id="43" name="Shape 41"/>
          <p:cNvSpPr/>
          <p:nvPr/>
        </p:nvSpPr>
        <p:spPr>
          <a:xfrm>
            <a:off x="9582150" y="3048000"/>
            <a:ext cx="3168997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9734550" y="3190875"/>
            <a:ext cx="295926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Incorporados desde cero</a:t>
            </a:r>
            <a:endParaRPr lang="en-US" sz="1013" dirty="0"/>
          </a:p>
        </p:txBody>
      </p:sp>
      <p:sp>
        <p:nvSpPr>
          <p:cNvPr id="45" name="Shape 43"/>
          <p:cNvSpPr/>
          <p:nvPr/>
        </p:nvSpPr>
        <p:spPr>
          <a:xfrm>
            <a:off x="12751147" y="3048000"/>
            <a:ext cx="2263601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12865447" y="3190875"/>
            <a:ext cx="203500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13" dirty="0"/>
          </a:p>
        </p:txBody>
      </p:sp>
      <p:sp>
        <p:nvSpPr>
          <p:cNvPr id="47" name="Shape 45"/>
          <p:cNvSpPr/>
          <p:nvPr/>
        </p:nvSpPr>
        <p:spPr>
          <a:xfrm>
            <a:off x="15014749" y="3048000"/>
            <a:ext cx="2263527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15129049" y="3190875"/>
            <a:ext cx="203492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13" dirty="0"/>
          </a:p>
        </p:txBody>
      </p:sp>
      <p:sp>
        <p:nvSpPr>
          <p:cNvPr id="49" name="Text 47"/>
          <p:cNvSpPr/>
          <p:nvPr/>
        </p:nvSpPr>
        <p:spPr>
          <a:xfrm>
            <a:off x="9572625" y="3709988"/>
            <a:ext cx="794670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MEJORAS CRÍTICAS APLICADAS</a:t>
            </a:r>
            <a:endParaRPr lang="en-US" sz="975" dirty="0"/>
          </a:p>
        </p:txBody>
      </p:sp>
      <p:sp>
        <p:nvSpPr>
          <p:cNvPr id="50" name="Text 48"/>
          <p:cNvSpPr/>
          <p:nvPr/>
        </p:nvSpPr>
        <p:spPr>
          <a:xfrm>
            <a:off x="9795942" y="3990975"/>
            <a:ext cx="274907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CVP1 — Pantalla de confirmación antes de envío de reporte.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2579251" y="4024313"/>
            <a:ext cx="465504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"¿Confirmas reportar 2 cargos por $24.98 USD?" — inspirado en el principio "una decisión clara por paso" (Acorns).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9795942" y="4933950"/>
            <a:ext cx="2292102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CVP2 — Nota de privacidad biométrica.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12126144" y="4967288"/>
            <a:ext cx="518053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explícito sobre uso de datos biométricos. Cumple Ley 1581 + sensibilidad del segmento 18–25.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9572625" y="5657850"/>
            <a:ext cx="7715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5" name="Text 53"/>
          <p:cNvSpPr/>
          <p:nvPr/>
        </p:nvSpPr>
        <p:spPr>
          <a:xfrm>
            <a:off x="9572625" y="5800725"/>
            <a:ext cx="7946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r>
              <a:rPr lang="en-US" sz="1100" b="1" kern="0" spc="126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s-MX" sz="1100" b="1" kern="0" spc="126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mejoras implementadas en </a:t>
            </a:r>
            <a:r>
              <a:rPr lang="es-MX" sz="1100" b="1" kern="0" spc="126" dirty="0" err="1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</a:t>
            </a:r>
            <a:r>
              <a:rPr lang="es-MX" sz="1100" b="1" kern="0" spc="126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8 principios cubiertos o identificados para iteración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85800" y="9867900"/>
            <a:ext cx="14083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UX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5571440" y="9867900"/>
            <a:ext cx="21069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+ </a:t>
            </a:r>
            <a:r>
              <a:rPr lang="en-US" sz="1050" kern="0" spc="189" dirty="0" err="1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Heurística</a:t>
            </a:r>
            <a:endParaRPr lang="en-US" sz="1050" dirty="0"/>
          </a:p>
        </p:txBody>
      </p:sp>
      <p:pic>
        <p:nvPicPr>
          <p:cNvPr id="59" name="Imagen 58">
            <a:extLst>
              <a:ext uri="{FF2B5EF4-FFF2-40B4-BE49-F238E27FC236}">
                <a16:creationId xmlns:a16="http://schemas.microsoft.com/office/drawing/2014/main" id="{59F2FD21-F8EC-153A-BF4E-62DAA6C6D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0077" y="6010275"/>
            <a:ext cx="1756807" cy="3819525"/>
          </a:xfrm>
          <a:prstGeom prst="rect">
            <a:avLst/>
          </a:prstGeom>
        </p:spPr>
      </p:pic>
      <p:pic>
        <p:nvPicPr>
          <p:cNvPr id="61" name="Imagen 60">
            <a:extLst>
              <a:ext uri="{FF2B5EF4-FFF2-40B4-BE49-F238E27FC236}">
                <a16:creationId xmlns:a16="http://schemas.microsoft.com/office/drawing/2014/main" id="{38F9F6CE-9061-E627-1261-58B341EAAC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1512" y="6010275"/>
            <a:ext cx="1887537" cy="38195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85800" y="252413"/>
            <a:ext cx="912537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Testing · Hallazgos y Pivots del Prototipo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685800" y="709613"/>
            <a:ext cx="912537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perfiles · Tarjetas de aprendizaje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15484822" y="361950"/>
            <a:ext cx="219357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</a:t>
            </a:r>
            <a:r>
              <a:rPr lang="en-US" sz="1050" b="1" kern="0" spc="23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23 · TALLER 2 · UX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990600"/>
            <a:ext cx="16916400" cy="3810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85800" y="1333500"/>
            <a:ext cx="8353425" cy="4029075"/>
          </a:xfrm>
          <a:prstGeom prst="roundRect">
            <a:avLst>
              <a:gd name="adj" fmla="val 473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1000125" y="1609725"/>
            <a:ext cx="419100" cy="419100"/>
          </a:xfrm>
          <a:prstGeom prst="ellipse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962025" y="160972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552575" y="1721644"/>
            <a:ext cx="3811936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1 · CLIENTE NORMAL · CVP1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000125" y="2200275"/>
            <a:ext cx="82941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1000125" y="2362200"/>
            <a:ext cx="444204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Asistente con chips genéricos pierde valor cuando hay caso abierto.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1000125" y="2678906"/>
            <a:ext cx="7724775" cy="42192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1000125" y="2678906"/>
            <a:ext cx="28575" cy="421928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1181100" y="2793206"/>
            <a:ext cx="7623143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88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veo nada de mi caso aquí, ¿cómo busco el que ya reporté?"</a:t>
            </a:r>
            <a:endParaRPr lang="en-US" sz="1088" dirty="0"/>
          </a:p>
        </p:txBody>
      </p:sp>
      <p:sp>
        <p:nvSpPr>
          <p:cNvPr id="16" name="Text 14"/>
          <p:cNvSpPr/>
          <p:nvPr/>
        </p:nvSpPr>
        <p:spPr>
          <a:xfrm>
            <a:off x="1000125" y="3272284"/>
            <a:ext cx="50385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000125" y="3434209"/>
            <a:ext cx="674619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Chips dinámicos contextuales — primer chip muestra "Seguimiento caso #RC-2847" si hay caso activo.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9248775" y="1333500"/>
            <a:ext cx="8353425" cy="4029075"/>
          </a:xfrm>
          <a:prstGeom prst="roundRect">
            <a:avLst>
              <a:gd name="adj" fmla="val 473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9563100" y="1609725"/>
            <a:ext cx="419100" cy="419100"/>
          </a:xfrm>
          <a:prstGeom prst="ellipse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9525000" y="160972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115550" y="1721644"/>
            <a:ext cx="474756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2 · EXPERTO DIGITAL · AMBOS CVPS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9563100" y="2200275"/>
            <a:ext cx="82941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9563100" y="2362200"/>
            <a:ext cx="417240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Botones de Seguridad simultáneos generan ambigüedad visual.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9563100" y="2678906"/>
            <a:ext cx="7724775" cy="42192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9563100" y="2678906"/>
            <a:ext cx="28575" cy="421928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9744075" y="2793206"/>
            <a:ext cx="7623143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88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 la tarjeta está activa, ¿por qué veo Reactivar?"</a:t>
            </a:r>
            <a:endParaRPr lang="en-US" sz="1088" dirty="0"/>
          </a:p>
        </p:txBody>
      </p:sp>
      <p:sp>
        <p:nvSpPr>
          <p:cNvPr id="27" name="Text 25"/>
          <p:cNvSpPr/>
          <p:nvPr/>
        </p:nvSpPr>
        <p:spPr>
          <a:xfrm>
            <a:off x="9563100" y="3272284"/>
            <a:ext cx="50385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9563100" y="3434209"/>
            <a:ext cx="506962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Acciones condicionales — solo "Bloquear" se muestra si la tarjeta está activa.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685800" y="5572125"/>
            <a:ext cx="8353425" cy="4029075"/>
          </a:xfrm>
          <a:prstGeom prst="roundRect">
            <a:avLst>
              <a:gd name="adj" fmla="val 473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1000125" y="5848350"/>
            <a:ext cx="419100" cy="419100"/>
          </a:xfrm>
          <a:prstGeom prst="ellipse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962025" y="58483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552575" y="5960269"/>
            <a:ext cx="419149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3 · POTENCIAL CLIENTE · CVP2</a:t>
            </a:r>
            <a:endParaRPr lang="en-US" sz="1275" dirty="0"/>
          </a:p>
        </p:txBody>
      </p:sp>
      <p:sp>
        <p:nvSpPr>
          <p:cNvPr id="33" name="Text 31"/>
          <p:cNvSpPr/>
          <p:nvPr/>
        </p:nvSpPr>
        <p:spPr>
          <a:xfrm>
            <a:off x="1000125" y="6438900"/>
            <a:ext cx="82941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1000125" y="6600825"/>
            <a:ext cx="505491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categorías iguales en primer consumo causan parálisis. NPS 7 vs criterio 8.</a:t>
            </a:r>
            <a:endParaRPr lang="en-US" sz="1125" dirty="0"/>
          </a:p>
        </p:txBody>
      </p:sp>
      <p:sp>
        <p:nvSpPr>
          <p:cNvPr id="35" name="Shape 33"/>
          <p:cNvSpPr/>
          <p:nvPr/>
        </p:nvSpPr>
        <p:spPr>
          <a:xfrm>
            <a:off x="1000125" y="6917531"/>
            <a:ext cx="7724775" cy="42192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1000125" y="6917531"/>
            <a:ext cx="28575" cy="421928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1181100" y="7031831"/>
            <a:ext cx="7623143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88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"Hay muchas cosas, no sé por cuál empezar."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1000125" y="7510909"/>
            <a:ext cx="50385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1000125" y="7672834"/>
            <a:ext cx="522330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categoría destacada con cashback + 3 secundarias en menor jerarquía visual.</a:t>
            </a:r>
            <a:endParaRPr lang="en-US" sz="1125" dirty="0"/>
          </a:p>
        </p:txBody>
      </p:sp>
      <p:sp>
        <p:nvSpPr>
          <p:cNvPr id="40" name="Shape 38"/>
          <p:cNvSpPr/>
          <p:nvPr/>
        </p:nvSpPr>
        <p:spPr>
          <a:xfrm>
            <a:off x="9248775" y="5572125"/>
            <a:ext cx="8353425" cy="4029075"/>
          </a:xfrm>
          <a:prstGeom prst="roundRect">
            <a:avLst>
              <a:gd name="adj" fmla="val 473"/>
            </a:avLst>
          </a:prstGeom>
          <a:solidFill>
            <a:srgbClr val="0E0E0E"/>
          </a:solidFill>
          <a:ln w="9525">
            <a:solidFill>
              <a:srgbClr val="E041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Shape 39"/>
          <p:cNvSpPr/>
          <p:nvPr/>
        </p:nvSpPr>
        <p:spPr>
          <a:xfrm>
            <a:off x="9563100" y="5848350"/>
            <a:ext cx="419100" cy="419100"/>
          </a:xfrm>
          <a:prstGeom prst="ellipse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9525000" y="58483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0115550" y="5960269"/>
            <a:ext cx="4021334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4 · USUARIO EXTREMO · CVP1</a:t>
            </a:r>
            <a:endParaRPr lang="en-US" sz="1275" dirty="0"/>
          </a:p>
        </p:txBody>
      </p:sp>
      <p:sp>
        <p:nvSpPr>
          <p:cNvPr id="44" name="Text 42"/>
          <p:cNvSpPr/>
          <p:nvPr/>
        </p:nvSpPr>
        <p:spPr>
          <a:xfrm>
            <a:off x="9563100" y="6438900"/>
            <a:ext cx="82941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9563100" y="6600825"/>
            <a:ext cx="458146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Asistente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IA </a:t>
            </a:r>
            <a:r>
              <a:rPr lang="en-US" sz="112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tener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las </a:t>
            </a:r>
            <a:r>
              <a:rPr lang="en-US" sz="112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necesidades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</a:t>
            </a:r>
            <a:r>
              <a:rPr lang="en-US" sz="112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 y </a:t>
            </a:r>
            <a:r>
              <a:rPr lang="en-US" sz="112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</a:t>
            </a:r>
            <a:r>
              <a:rPr lang="en-US" sz="112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probable </a:t>
            </a:r>
            <a:r>
              <a:rPr lang="en-US" sz="112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haga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25" dirty="0"/>
          </a:p>
        </p:txBody>
      </p:sp>
      <p:sp>
        <p:nvSpPr>
          <p:cNvPr id="46" name="Shape 44"/>
          <p:cNvSpPr/>
          <p:nvPr/>
        </p:nvSpPr>
        <p:spPr>
          <a:xfrm>
            <a:off x="9563100" y="6917531"/>
            <a:ext cx="7724775" cy="42192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7" name="Shape 45"/>
          <p:cNvSpPr/>
          <p:nvPr/>
        </p:nvSpPr>
        <p:spPr>
          <a:xfrm>
            <a:off x="9563100" y="6917531"/>
            <a:ext cx="28575" cy="421928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9744075" y="7031831"/>
            <a:ext cx="7623143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88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s-MX" sz="1088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cada vez que entro es como si fuera la primera vez</a:t>
            </a:r>
            <a:r>
              <a:rPr lang="en-US" sz="1088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1088" dirty="0"/>
          </a:p>
        </p:txBody>
      </p:sp>
      <p:sp>
        <p:nvSpPr>
          <p:cNvPr id="49" name="Text 47"/>
          <p:cNvSpPr/>
          <p:nvPr/>
        </p:nvSpPr>
        <p:spPr>
          <a:xfrm>
            <a:off x="9563100" y="7510909"/>
            <a:ext cx="50385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9563100" y="7672834"/>
            <a:ext cx="632295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</a:t>
            </a:r>
            <a:r>
              <a:rPr lang="en-US" sz="112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conversacional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entre </a:t>
            </a:r>
            <a:r>
              <a:rPr lang="en-US" sz="112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sesiones</a:t>
            </a:r>
            <a:endParaRPr lang="en-US" sz="1125" dirty="0"/>
          </a:p>
        </p:txBody>
      </p:sp>
      <p:sp>
        <p:nvSpPr>
          <p:cNvPr id="51" name="Text 49"/>
          <p:cNvSpPr/>
          <p:nvPr/>
        </p:nvSpPr>
        <p:spPr>
          <a:xfrm>
            <a:off x="685800" y="9867900"/>
            <a:ext cx="134726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TESTING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5623381" y="9867900"/>
            <a:ext cx="205501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PERFILES · 4 PIVOTS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1011810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de Willingness to Pay · Van Westendorp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5475521" y="361950"/>
            <a:ext cx="220287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</a:t>
            </a:r>
            <a:r>
              <a:rPr lang="en-US" sz="1050" b="1" kern="0" spc="23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23 · TALLER 2 · UX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990600"/>
            <a:ext cx="16916400" cy="3810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8343900" cy="7696200"/>
          </a:xfrm>
          <a:prstGeom prst="roundRect">
            <a:avLst>
              <a:gd name="adj" fmla="val 248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000125" y="1419225"/>
            <a:ext cx="794670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CVP1 · ASISTENTE GENAI PREMIUM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000125" y="1785938"/>
            <a:ext cx="794670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RANGOS DE PRECIO ACEPTABLE</a:t>
            </a:r>
            <a:endParaRPr lang="en-US" sz="825" dirty="0"/>
          </a:p>
        </p:txBody>
      </p:sp>
      <p:sp>
        <p:nvSpPr>
          <p:cNvPr id="9" name="Shape 7"/>
          <p:cNvSpPr/>
          <p:nvPr/>
        </p:nvSpPr>
        <p:spPr>
          <a:xfrm>
            <a:off x="1000125" y="2024062"/>
            <a:ext cx="7715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000125" y="2166938"/>
            <a:ext cx="621641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 aceptable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7264078" y="2166938"/>
            <a:ext cx="152749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$2.900 / mes</a:t>
            </a:r>
            <a:endParaRPr lang="en-US" sz="1088" dirty="0"/>
          </a:p>
        </p:txBody>
      </p:sp>
      <p:sp>
        <p:nvSpPr>
          <p:cNvPr id="12" name="Text 10"/>
          <p:cNvSpPr/>
          <p:nvPr/>
        </p:nvSpPr>
        <p:spPr>
          <a:xfrm>
            <a:off x="1000125" y="2400300"/>
            <a:ext cx="621641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Óptimo inferior</a:t>
            </a:r>
            <a:endParaRPr lang="en-US" sz="1088" dirty="0"/>
          </a:p>
        </p:txBody>
      </p:sp>
      <p:sp>
        <p:nvSpPr>
          <p:cNvPr id="13" name="Text 11"/>
          <p:cNvSpPr/>
          <p:nvPr/>
        </p:nvSpPr>
        <p:spPr>
          <a:xfrm>
            <a:off x="7264078" y="2400300"/>
            <a:ext cx="152749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$4.900 – $6.900 / mes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00125" y="2633663"/>
            <a:ext cx="621641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Óptimo superior</a:t>
            </a:r>
            <a:endParaRPr lang="en-US" sz="1088" dirty="0"/>
          </a:p>
        </p:txBody>
      </p:sp>
      <p:sp>
        <p:nvSpPr>
          <p:cNvPr id="15" name="Text 13"/>
          <p:cNvSpPr/>
          <p:nvPr/>
        </p:nvSpPr>
        <p:spPr>
          <a:xfrm>
            <a:off x="7264078" y="2633663"/>
            <a:ext cx="152749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$9.900 – $12.900 / mes</a:t>
            </a:r>
            <a:endParaRPr lang="en-US" sz="1088" dirty="0"/>
          </a:p>
        </p:txBody>
      </p:sp>
      <p:sp>
        <p:nvSpPr>
          <p:cNvPr id="16" name="Text 14"/>
          <p:cNvSpPr/>
          <p:nvPr/>
        </p:nvSpPr>
        <p:spPr>
          <a:xfrm>
            <a:off x="1000125" y="2867025"/>
            <a:ext cx="621641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 inaceptable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7264078" y="2867025"/>
            <a:ext cx="152749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$19.900 / mes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1000125" y="3233738"/>
            <a:ext cx="7715250" cy="1243013"/>
          </a:xfrm>
          <a:prstGeom prst="rect">
            <a:avLst/>
          </a:prstGeom>
          <a:solidFill>
            <a:srgbClr val="000000"/>
          </a:solidFill>
          <a:ln w="19050">
            <a:solidFill>
              <a:srgbClr val="E041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1247775" y="3462338"/>
            <a:ext cx="121912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ÓPTIMO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1247775" y="3643313"/>
            <a:ext cx="2719571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$8.900 </a:t>
            </a:r>
            <a:r>
              <a:rPr lang="en-US" sz="135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COP/mes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000125" y="4686300"/>
            <a:ext cx="794670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TIERS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1000125" y="4924425"/>
            <a:ext cx="7715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1000125" y="5067300"/>
            <a:ext cx="77993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Básico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932459" y="5067300"/>
            <a:ext cx="590331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Autoservicio estándar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892430" y="5067300"/>
            <a:ext cx="8991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adicional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00125" y="5324475"/>
            <a:ext cx="77993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932459" y="5324475"/>
            <a:ext cx="590331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Resolución &lt;4h, alertas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892430" y="5324475"/>
            <a:ext cx="8991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$8.900/mes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00125" y="5581650"/>
            <a:ext cx="77993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Comercios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932459" y="5581650"/>
            <a:ext cx="590331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2h, dashboard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892430" y="5581650"/>
            <a:ext cx="8991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$45–80K/mes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00125" y="8105775"/>
            <a:ext cx="7715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1000125" y="8355806"/>
            <a:ext cx="211224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 OPERATIVO TOTAL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29425" y="8286750"/>
            <a:ext cx="19621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472,500/año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9258300" y="1143000"/>
            <a:ext cx="8343900" cy="7696200"/>
          </a:xfrm>
          <a:prstGeom prst="roundRect">
            <a:avLst>
              <a:gd name="adj" fmla="val 248"/>
            </a:avLst>
          </a:prstGeom>
          <a:solidFill>
            <a:srgbClr val="0E0E0E"/>
          </a:solidFill>
          <a:ln w="9525">
            <a:solidFill>
              <a:srgbClr val="E041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9572625" y="1419225"/>
            <a:ext cx="794670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CVP2 · ORIGINACIÓN DIGITAL PREMIUM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9572625" y="1785938"/>
            <a:ext cx="794670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RANGOS DE PRECIO ACEPTABLE</a:t>
            </a:r>
            <a:endParaRPr lang="en-US" sz="825" dirty="0"/>
          </a:p>
        </p:txBody>
      </p:sp>
      <p:sp>
        <p:nvSpPr>
          <p:cNvPr id="38" name="Shape 36"/>
          <p:cNvSpPr/>
          <p:nvPr/>
        </p:nvSpPr>
        <p:spPr>
          <a:xfrm>
            <a:off x="9572625" y="2024062"/>
            <a:ext cx="7715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9572625" y="2166938"/>
            <a:ext cx="629551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 aceptable</a:t>
            </a:r>
            <a:endParaRPr lang="en-US" sz="1088" dirty="0"/>
          </a:p>
        </p:txBody>
      </p:sp>
      <p:sp>
        <p:nvSpPr>
          <p:cNvPr id="40" name="Text 38"/>
          <p:cNvSpPr/>
          <p:nvPr/>
        </p:nvSpPr>
        <p:spPr>
          <a:xfrm>
            <a:off x="15913373" y="2166938"/>
            <a:ext cx="145070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$1.900 / mes</a:t>
            </a:r>
            <a:endParaRPr lang="en-US" sz="1088" dirty="0"/>
          </a:p>
        </p:txBody>
      </p:sp>
      <p:sp>
        <p:nvSpPr>
          <p:cNvPr id="41" name="Text 39"/>
          <p:cNvSpPr/>
          <p:nvPr/>
        </p:nvSpPr>
        <p:spPr>
          <a:xfrm>
            <a:off x="9572625" y="2400300"/>
            <a:ext cx="629551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Óptimo inferior</a:t>
            </a:r>
            <a:endParaRPr lang="en-US" sz="1088" dirty="0"/>
          </a:p>
        </p:txBody>
      </p:sp>
      <p:sp>
        <p:nvSpPr>
          <p:cNvPr id="42" name="Text 40"/>
          <p:cNvSpPr/>
          <p:nvPr/>
        </p:nvSpPr>
        <p:spPr>
          <a:xfrm>
            <a:off x="15913373" y="2400300"/>
            <a:ext cx="145070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$3.900 – $5.900 / mes</a:t>
            </a:r>
            <a:endParaRPr lang="en-US" sz="1088" dirty="0"/>
          </a:p>
        </p:txBody>
      </p:sp>
      <p:sp>
        <p:nvSpPr>
          <p:cNvPr id="43" name="Text 41"/>
          <p:cNvSpPr/>
          <p:nvPr/>
        </p:nvSpPr>
        <p:spPr>
          <a:xfrm>
            <a:off x="9572625" y="2633663"/>
            <a:ext cx="629551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Óptimo superior</a:t>
            </a:r>
            <a:endParaRPr lang="en-US" sz="1088" dirty="0"/>
          </a:p>
        </p:txBody>
      </p:sp>
      <p:sp>
        <p:nvSpPr>
          <p:cNvPr id="44" name="Text 42"/>
          <p:cNvSpPr/>
          <p:nvPr/>
        </p:nvSpPr>
        <p:spPr>
          <a:xfrm>
            <a:off x="15913373" y="2633663"/>
            <a:ext cx="145070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$7.900 – $9.900 / mes</a:t>
            </a:r>
            <a:endParaRPr lang="en-US" sz="1088" dirty="0"/>
          </a:p>
        </p:txBody>
      </p:sp>
      <p:sp>
        <p:nvSpPr>
          <p:cNvPr id="45" name="Text 43"/>
          <p:cNvSpPr/>
          <p:nvPr/>
        </p:nvSpPr>
        <p:spPr>
          <a:xfrm>
            <a:off x="9572625" y="2867025"/>
            <a:ext cx="629551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 inaceptable</a:t>
            </a:r>
            <a:endParaRPr lang="en-US" sz="1088" dirty="0"/>
          </a:p>
        </p:txBody>
      </p:sp>
      <p:sp>
        <p:nvSpPr>
          <p:cNvPr id="46" name="Text 44"/>
          <p:cNvSpPr/>
          <p:nvPr/>
        </p:nvSpPr>
        <p:spPr>
          <a:xfrm>
            <a:off x="15913373" y="2867025"/>
            <a:ext cx="145070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$14.900 / mes</a:t>
            </a:r>
            <a:endParaRPr lang="en-US" sz="1088" dirty="0"/>
          </a:p>
        </p:txBody>
      </p:sp>
      <p:sp>
        <p:nvSpPr>
          <p:cNvPr id="47" name="Shape 45"/>
          <p:cNvSpPr/>
          <p:nvPr/>
        </p:nvSpPr>
        <p:spPr>
          <a:xfrm>
            <a:off x="9572625" y="3233738"/>
            <a:ext cx="7715250" cy="1243013"/>
          </a:xfrm>
          <a:prstGeom prst="rect">
            <a:avLst/>
          </a:prstGeom>
          <a:solidFill>
            <a:srgbClr val="000000"/>
          </a:solidFill>
          <a:ln w="19050">
            <a:solidFill>
              <a:srgbClr val="E041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9820275" y="3462338"/>
            <a:ext cx="121912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ÓPTIMO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9820275" y="3643313"/>
            <a:ext cx="2719571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$7.900 </a:t>
            </a:r>
            <a:r>
              <a:rPr lang="en-US" sz="135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COP/mes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9572625" y="4686300"/>
            <a:ext cx="794670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DE REVENUE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9572625" y="4924425"/>
            <a:ext cx="7715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2" name="Text 50"/>
          <p:cNvSpPr/>
          <p:nvPr/>
        </p:nvSpPr>
        <p:spPr>
          <a:xfrm>
            <a:off x="9572625" y="5067300"/>
            <a:ext cx="606181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Interchange fee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5686484" y="5067300"/>
            <a:ext cx="167759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$4.000–$8.000/mes/cliente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572625" y="5324475"/>
            <a:ext cx="606181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Cuota de manejo año 1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5686484" y="5324475"/>
            <a:ext cx="167759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(estrategia adopción)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9572625" y="5581650"/>
            <a:ext cx="606181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Intereses revolving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5686484" y="5581650"/>
            <a:ext cx="167759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 principal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9572625" y="5838825"/>
            <a:ext cx="606181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premium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15686484" y="5838825"/>
            <a:ext cx="167759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$4.900–$9.900/mes/cliente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9572625" y="8208690"/>
            <a:ext cx="7715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1" name="Text 59"/>
          <p:cNvSpPr/>
          <p:nvPr/>
        </p:nvSpPr>
        <p:spPr>
          <a:xfrm>
            <a:off x="9572625" y="8389665"/>
            <a:ext cx="7946708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Estrategia: </a:t>
            </a: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capturar WTP sin bloquear adquisición segmento joven.</a:t>
            </a:r>
            <a:endParaRPr lang="en-US" sz="975" dirty="0"/>
          </a:p>
        </p:txBody>
      </p:sp>
      <p:sp>
        <p:nvSpPr>
          <p:cNvPr id="62" name="Shape 60"/>
          <p:cNvSpPr/>
          <p:nvPr/>
        </p:nvSpPr>
        <p:spPr>
          <a:xfrm>
            <a:off x="685800" y="9048750"/>
            <a:ext cx="16916400" cy="55245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3" name="Text 61"/>
          <p:cNvSpPr/>
          <p:nvPr/>
        </p:nvSpPr>
        <p:spPr>
          <a:xfrm>
            <a:off x="698754" y="9220200"/>
            <a:ext cx="1689049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"Ambos CVPs maximizan revenue sin dejar valor sobre la mesa ni sobreprecibir el tier de entrada."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685800" y="9867900"/>
            <a:ext cx="192122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WILLINGNESS TO PAY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16009069" y="9867900"/>
            <a:ext cx="16693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WESTENDORP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921995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UX · Cierre y Mejoras Consolidadas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5475744" y="361950"/>
            <a:ext cx="220265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</a:t>
            </a:r>
            <a:r>
              <a:rPr lang="en-US" sz="1050" b="1" kern="0" spc="23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23 · TALLER 2 · UX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990600"/>
            <a:ext cx="16916400" cy="3810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4100513" cy="1438275"/>
          </a:xfrm>
          <a:prstGeom prst="rect">
            <a:avLst/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841599" y="1419225"/>
            <a:ext cx="178884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93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1545773" y="2069783"/>
            <a:ext cx="238049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HEURÍSTICA EVALUADAS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57763" y="1143000"/>
            <a:ext cx="4100513" cy="1438275"/>
          </a:xfrm>
          <a:prstGeom prst="rect">
            <a:avLst/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663110" y="1419225"/>
            <a:ext cx="68981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93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650" dirty="0"/>
          </a:p>
        </p:txBody>
      </p:sp>
      <p:sp>
        <p:nvSpPr>
          <p:cNvPr id="11" name="Text 9"/>
          <p:cNvSpPr/>
          <p:nvPr/>
        </p:nvSpPr>
        <p:spPr>
          <a:xfrm>
            <a:off x="5768950" y="2143125"/>
            <a:ext cx="247813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50" b="1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INCORPORADOS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229725" y="1143000"/>
            <a:ext cx="4100513" cy="1438275"/>
          </a:xfrm>
          <a:prstGeom prst="rect">
            <a:avLst/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0617398" y="1419225"/>
            <a:ext cx="132516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93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4650" dirty="0"/>
          </a:p>
        </p:txBody>
      </p:sp>
      <p:sp>
        <p:nvSpPr>
          <p:cNvPr id="14" name="Text 12"/>
          <p:cNvSpPr/>
          <p:nvPr/>
        </p:nvSpPr>
        <p:spPr>
          <a:xfrm>
            <a:off x="10172254" y="2143125"/>
            <a:ext cx="221538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50" b="1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PERFILES UT VALIDADOS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3501688" y="1143000"/>
            <a:ext cx="4100513" cy="1438275"/>
          </a:xfrm>
          <a:prstGeom prst="rect">
            <a:avLst/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14487674" y="1419225"/>
            <a:ext cx="212854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93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CVPs</a:t>
            </a:r>
            <a:endParaRPr lang="en-US" sz="4650" dirty="0"/>
          </a:p>
        </p:txBody>
      </p:sp>
      <p:sp>
        <p:nvSpPr>
          <p:cNvPr id="17" name="Text 15"/>
          <p:cNvSpPr/>
          <p:nvPr/>
        </p:nvSpPr>
        <p:spPr>
          <a:xfrm>
            <a:off x="13957620" y="2143125"/>
            <a:ext cx="318864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WTP VALIDADO · VAN WESTENDORP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" y="2809875"/>
            <a:ext cx="16916400" cy="5934075"/>
          </a:xfrm>
          <a:prstGeom prst="roundRect">
            <a:avLst>
              <a:gd name="adj" fmla="val 321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9" name="Text 17"/>
          <p:cNvSpPr/>
          <p:nvPr/>
        </p:nvSpPr>
        <p:spPr>
          <a:xfrm>
            <a:off x="1000125" y="3086100"/>
            <a:ext cx="1677638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IMPLEMENTADO EN FIGMA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1000125" y="3452813"/>
            <a:ext cx="646956" cy="252413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1133475" y="3509963"/>
            <a:ext cx="456456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23442" y="3910013"/>
            <a:ext cx="250120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Confirmación antes de envío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62747" y="3876675"/>
            <a:ext cx="319531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(heurística — prevención de errores)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23442" y="4300538"/>
            <a:ext cx="3080221" cy="157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Asistente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con IA con </a:t>
            </a:r>
            <a:r>
              <a:rPr lang="en-US" sz="140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contexto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del </a:t>
            </a:r>
            <a:r>
              <a:rPr lang="en-US" sz="140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usuario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77971" y="4267200"/>
            <a:ext cx="20771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(user testing — </a:t>
            </a:r>
            <a:r>
              <a:rPr lang="en-US" sz="1500" dirty="0" err="1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4)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315450" y="3452813"/>
            <a:ext cx="669429" cy="252413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9448800" y="3509963"/>
            <a:ext cx="478929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538767" y="3910013"/>
            <a:ext cx="25963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de privacidad biométrica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2173248" y="3910013"/>
            <a:ext cx="35556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heurística — Ayuda y </a:t>
            </a:r>
            <a:r>
              <a:rPr lang="en-US" sz="1400" dirty="0" err="1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</a:t>
            </a: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538767" y="4300538"/>
            <a:ext cx="35556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 destacada en primer consumo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85800" y="8972550"/>
            <a:ext cx="16916400" cy="62865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698754" y="9182100"/>
            <a:ext cx="1689049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"Prototipo pivotado con base en evidencia: 7 mejoras concretas, bajo costo, alto impacto en NPS y conversión."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85800" y="9867900"/>
            <a:ext cx="164417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BLOQUE 2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6270039" y="9867900"/>
            <a:ext cx="14083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UX</a:t>
            </a:r>
            <a:endParaRPr lang="en-US" sz="1050" dirty="0"/>
          </a:p>
        </p:txBody>
      </p:sp>
      <p:sp>
        <p:nvSpPr>
          <p:cNvPr id="42" name="Text 23">
            <a:extLst>
              <a:ext uri="{FF2B5EF4-FFF2-40B4-BE49-F238E27FC236}">
                <a16:creationId xmlns:a16="http://schemas.microsoft.com/office/drawing/2014/main" id="{AF4F3838-2B56-2D4B-0EB6-87DD61E136BA}"/>
              </a:ext>
            </a:extLst>
          </p:cNvPr>
          <p:cNvSpPr/>
          <p:nvPr/>
        </p:nvSpPr>
        <p:spPr>
          <a:xfrm>
            <a:off x="13094397" y="4300537"/>
            <a:ext cx="20771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(user testing — </a:t>
            </a:r>
            <a:r>
              <a:rPr lang="en-US" sz="1500" dirty="0" err="1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3)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85800" y="223838"/>
            <a:ext cx="978062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 / Arquitectura de Solución · Vista Global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685800" y="681038"/>
            <a:ext cx="978062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capas · NEW / MODIFY / KEEP · Multi-tenant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287426" y="361950"/>
            <a:ext cx="341421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</a:t>
            </a:r>
            <a:r>
              <a:rPr lang="en-US" sz="1050" b="1" kern="0" spc="23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23 · TALLER 2 · ARQUITECTURA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990600"/>
            <a:ext cx="16916400" cy="3810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8675" y="1476375"/>
            <a:ext cx="16630650" cy="935474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" y="11183541"/>
            <a:ext cx="16916400" cy="864840"/>
          </a:xfrm>
          <a:prstGeom prst="rect">
            <a:avLst/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962025" y="11364516"/>
            <a:ext cx="210294" cy="2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91369" y="11383566"/>
            <a:ext cx="42837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capas: Datos · Aplicación · Integración · Cloud · OnPremise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315450" y="11364516"/>
            <a:ext cx="210294" cy="2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544794" y="11383566"/>
            <a:ext cx="8810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Convención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444907" y="11364516"/>
            <a:ext cx="443061" cy="2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07018" y="11383566"/>
            <a:ext cx="1185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044610" y="11364516"/>
            <a:ext cx="689372" cy="2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753031" y="11383566"/>
            <a:ext cx="1185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890623" y="11364516"/>
            <a:ext cx="469776" cy="2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2025" y="11654061"/>
            <a:ext cx="210294" cy="2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91369" y="11673111"/>
            <a:ext cx="6606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Reutiliza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871067" y="11654061"/>
            <a:ext cx="697929" cy="2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60–70%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588047" y="11673111"/>
            <a:ext cx="23241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activo actual de Todo Tarjetas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315450" y="11654061"/>
            <a:ext cx="210294" cy="2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544794" y="11673111"/>
            <a:ext cx="50258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día 1 — habilita filiales Banco Los Alpes y partners en Ola 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5800" y="9867900"/>
            <a:ext cx="283254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· VISTA GLOBAL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5434221" y="9867900"/>
            <a:ext cx="224417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CAPAS · MULTI-TENANT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100007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Fast-Data + Sistemas de Información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4319796" y="361950"/>
            <a:ext cx="338087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</a:t>
            </a:r>
            <a:r>
              <a:rPr lang="en-US" sz="1050" b="1" kern="0" spc="23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23 · TALLER 2 · ARQUITECTURA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990600"/>
            <a:ext cx="16916400" cy="3810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16916400" cy="9673828"/>
          </a:xfrm>
          <a:prstGeom prst="roundRect">
            <a:avLst>
              <a:gd name="adj" fmla="val 197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6775" y="1323975"/>
            <a:ext cx="16554450" cy="93118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1026378"/>
            <a:ext cx="16916400" cy="566738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990600" y="11224022"/>
            <a:ext cx="297748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LAMBDA · FAST-DATA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6642795" y="11216878"/>
            <a:ext cx="233087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Speed: Kafka + Flink (&lt;100ms)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26066" y="11216878"/>
            <a:ext cx="12479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403259" y="11216878"/>
            <a:ext cx="230237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Batch: Spark (30d, SOX/DIAN)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858030" y="11216878"/>
            <a:ext cx="12479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135222" y="11216878"/>
            <a:ext cx="230683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Serving: Redis + Elasticsearch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4594458" y="11216878"/>
            <a:ext cx="12479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4871650" y="11216878"/>
            <a:ext cx="25019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Lakehouse: AWS S3 + Delta Lake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" y="9867900"/>
            <a:ext cx="29873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INFORMACIÓN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368513" y="9867900"/>
            <a:ext cx="230988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· SPEED + BATCH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776934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de APIs + Funnel de Priorización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4293304" y="361950"/>
            <a:ext cx="340816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</a:t>
            </a:r>
            <a:r>
              <a:rPr lang="en-US" sz="1050" b="1" kern="0" spc="23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23 · TALLER 2 · ARQUITECTURA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990600"/>
            <a:ext cx="16916400" cy="3810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8353425" cy="2757488"/>
          </a:xfrm>
          <a:prstGeom prst="roundRect">
            <a:avLst>
              <a:gd name="adj" fmla="val 691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000125" y="1419225"/>
            <a:ext cx="795651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EXPUESTAS POR TT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223442" y="1785938"/>
            <a:ext cx="45386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· Cases · Onboarding · Scoring · Issuance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744245" y="1819275"/>
            <a:ext cx="3833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23442" y="2176463"/>
            <a:ext cx="19379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Assistant API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23442" y="2566988"/>
            <a:ext cx="18475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Banking APIs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09094" y="2600325"/>
            <a:ext cx="106092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(OAuth 2.0)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3442" y="2957513"/>
            <a:ext cx="28567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Acquiring API · Events Stream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1303" y="2990850"/>
            <a:ext cx="6902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(Kafka)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248775" y="1143000"/>
            <a:ext cx="8353425" cy="2757488"/>
          </a:xfrm>
          <a:prstGeom prst="roundRect">
            <a:avLst>
              <a:gd name="adj" fmla="val 691"/>
            </a:avLst>
          </a:prstGeom>
          <a:solidFill>
            <a:srgbClr val="0E0E0E"/>
          </a:solidFill>
          <a:ln w="9525">
            <a:solidFill>
              <a:srgbClr val="E041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9563100" y="1419225"/>
            <a:ext cx="795651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CONSUMIDAS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9429750" y="1785938"/>
            <a:ext cx="7934325" cy="1876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DataCrédito · Cifin · AML · Lista Clinton · Registraduría</a:t>
            </a:r>
            <a:endParaRPr lang="en-US" sz="15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Truora / Onfido (biometría)</a:t>
            </a:r>
            <a:endParaRPr lang="en-US" sz="15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 / MC / AMEX (ISO 8583)</a:t>
            </a:r>
            <a:endParaRPr lang="en-US" sz="15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Bancario Banco Los Alpes</a:t>
            </a:r>
            <a:endParaRPr lang="en-US" sz="15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/ Anthropic · WhatsApp · Apple/Google Pay · DIAN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3925" y="4291013"/>
            <a:ext cx="16933355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DE PRIORIZACIÓN · DE OPORTUNIDAD A INICIATIVA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923925" y="4657725"/>
            <a:ext cx="16440150" cy="936426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7275" y="4791075"/>
            <a:ext cx="16173450" cy="909756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77323" y="14155341"/>
            <a:ext cx="169333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25" i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"+200 oportunidades atomizadas → ~30 grupos E2E → 2 iniciativas Ola 1 (CVP1 + CVP2). Trazabilidad con Taller 1."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685800" y="9867900"/>
            <a:ext cx="93679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API-FIRST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5323121" y="9867900"/>
            <a:ext cx="235527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DE PRIORIZACIÓN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1009932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kern="0" spc="-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Síntesis Arquitectónica · Plataforma Única, 2 CVPs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4291221" y="361950"/>
            <a:ext cx="341030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</a:t>
            </a:r>
            <a:r>
              <a:rPr lang="en-US" sz="1050" b="1" kern="0" spc="23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23 · TALLER 2 · ARQUITECTURA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990600"/>
            <a:ext cx="16916400" cy="38100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8353425" cy="2933700"/>
          </a:xfrm>
          <a:prstGeom prst="roundRect">
            <a:avLst>
              <a:gd name="adj" fmla="val 649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000125" y="1419225"/>
            <a:ext cx="795651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CVP1 · ASISTENTE GENAI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000125" y="1785938"/>
            <a:ext cx="795651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highlight>
                  <a:srgbClr val="E0413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NEW </a:t>
            </a: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Canales: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App, Web, WhatsApp, Backoffice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1000125" y="2057400"/>
            <a:ext cx="795651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highlight>
                  <a:srgbClr val="E0413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NEW </a:t>
            </a: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Microservicios: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Orchestrator, Case Mgmt, Knowledge Base, Escalation Engine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1000125" y="2328863"/>
            <a:ext cx="795651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highlight>
                  <a:srgbClr val="E0413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NEW </a:t>
            </a: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Motores: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+ RAG, Vector DB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1000125" y="2600325"/>
            <a:ext cx="795651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KEEP/MOD </a:t>
            </a: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BSS: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CRM, ECM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1000125" y="2871788"/>
            <a:ext cx="795651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highlight>
                  <a:srgbClr val="25252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KEEP </a:t>
            </a: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OSS: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Switch, GL, Conciliación</a:t>
            </a:r>
            <a:endParaRPr lang="en-US" sz="1013" dirty="0"/>
          </a:p>
        </p:txBody>
      </p:sp>
      <p:sp>
        <p:nvSpPr>
          <p:cNvPr id="13" name="Shape 11"/>
          <p:cNvSpPr/>
          <p:nvPr/>
        </p:nvSpPr>
        <p:spPr>
          <a:xfrm>
            <a:off x="1000125" y="3219450"/>
            <a:ext cx="7724775" cy="5810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1000125" y="3219450"/>
            <a:ext cx="28575" cy="581025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1181100" y="3352800"/>
            <a:ext cx="761314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kern="0" spc="16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81100" y="3505200"/>
            <a:ext cx="76131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−35% vol. call center · +25% FCR · −50% TMR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248775" y="1143000"/>
            <a:ext cx="8353425" cy="2933700"/>
          </a:xfrm>
          <a:prstGeom prst="roundRect">
            <a:avLst>
              <a:gd name="adj" fmla="val 649"/>
            </a:avLst>
          </a:prstGeom>
          <a:solidFill>
            <a:srgbClr val="0E0E0E"/>
          </a:solidFill>
          <a:ln w="9525">
            <a:solidFill>
              <a:srgbClr val="E041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9563100" y="1419225"/>
            <a:ext cx="795651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CVP2 · ORIGINACIÓN DIGITAL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9563100" y="1785938"/>
            <a:ext cx="795651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highlight>
                  <a:srgbClr val="E0413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NEW </a:t>
            </a: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Canales: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originación, Web, Wallet digital</a:t>
            </a:r>
            <a:endParaRPr lang="en-US" sz="1013" dirty="0"/>
          </a:p>
        </p:txBody>
      </p:sp>
      <p:sp>
        <p:nvSpPr>
          <p:cNvPr id="20" name="Text 18"/>
          <p:cNvSpPr/>
          <p:nvPr/>
        </p:nvSpPr>
        <p:spPr>
          <a:xfrm>
            <a:off x="9563100" y="2057400"/>
            <a:ext cx="795651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highlight>
                  <a:srgbClr val="E0413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NEW </a:t>
            </a: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Microservicios: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Onboarding, Identity Verification, Scoring ML, Card Issuance, Wallet Integration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9563100" y="2328863"/>
            <a:ext cx="795651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highlight>
                  <a:srgbClr val="E0413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NEW </a:t>
            </a: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Motores: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OCR/Liveness, Scoring ML &lt;60s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9563100" y="2600325"/>
            <a:ext cx="795651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KEEP/MOD </a:t>
            </a: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BSS: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Productos, CRM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9563100" y="2871788"/>
            <a:ext cx="795651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highlight>
                  <a:srgbClr val="25252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KEEP </a:t>
            </a: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OSS: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(consumido), GL</a:t>
            </a:r>
            <a:endParaRPr lang="en-US" sz="1013" dirty="0"/>
          </a:p>
        </p:txBody>
      </p:sp>
      <p:sp>
        <p:nvSpPr>
          <p:cNvPr id="24" name="Shape 22"/>
          <p:cNvSpPr/>
          <p:nvPr/>
        </p:nvSpPr>
        <p:spPr>
          <a:xfrm>
            <a:off x="9563100" y="3219450"/>
            <a:ext cx="7724775" cy="5810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9563100" y="3219450"/>
            <a:ext cx="28575" cy="581025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9744075" y="3352800"/>
            <a:ext cx="761314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kern="0" spc="16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744075" y="3505200"/>
            <a:ext cx="76131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conversión digital · alta a primer uso &lt;10 min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" y="4248150"/>
            <a:ext cx="16916400" cy="1042988"/>
          </a:xfrm>
          <a:prstGeom prst="roundRect">
            <a:avLst>
              <a:gd name="adj" fmla="val 1826"/>
            </a:avLst>
          </a:prstGeom>
          <a:solidFill>
            <a:srgbClr val="0E0E0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755809" y="4524375"/>
            <a:ext cx="1677638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975" b="1" kern="0" spc="215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PRINCIPIOS ARQUITECTÓNICOS NO-NEGOCIABLES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3486894" y="4843463"/>
            <a:ext cx="6698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API-first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4290120" y="4843463"/>
            <a:ext cx="12397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4547443" y="4843463"/>
            <a:ext cx="9817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5662538" y="4843463"/>
            <a:ext cx="12397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5919862" y="4843463"/>
            <a:ext cx="18863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multi-tenant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7939608" y="4843463"/>
            <a:ext cx="12397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8196932" y="4843463"/>
            <a:ext cx="79727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Zero-trust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9127554" y="4843463"/>
            <a:ext cx="12397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9384878" y="4843463"/>
            <a:ext cx="8166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mesh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10334848" y="4843463"/>
            <a:ext cx="12397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10592172" y="4843463"/>
            <a:ext cx="14795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Observabilidad día 1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12205022" y="4843463"/>
            <a:ext cx="12397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12462346" y="4843463"/>
            <a:ext cx="7694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Paperless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13365138" y="4843463"/>
            <a:ext cx="12397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0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13622462" y="4843463"/>
            <a:ext cx="125484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first</a:t>
            </a:r>
            <a:endParaRPr lang="en-US" sz="1125" dirty="0"/>
          </a:p>
        </p:txBody>
      </p:sp>
      <p:sp>
        <p:nvSpPr>
          <p:cNvPr id="45" name="Shape 43"/>
          <p:cNvSpPr/>
          <p:nvPr/>
        </p:nvSpPr>
        <p:spPr>
          <a:xfrm>
            <a:off x="685800" y="5462588"/>
            <a:ext cx="16916400" cy="937171"/>
          </a:xfrm>
          <a:prstGeom prst="rect">
            <a:avLst/>
          </a:prstGeom>
          <a:solidFill>
            <a:srgbClr val="E0413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745998" y="5691188"/>
            <a:ext cx="16796004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50" b="1" kern="0" spc="1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 arquitectura es la condición habilitante de la decisión de negocio. Plataforma única + 2 CVPs complementarios → </a:t>
            </a:r>
            <a:r>
              <a:rPr lang="en-US" sz="1350" b="1" u="sng" kern="0" spc="1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 USD 12.2M </a:t>
            </a:r>
            <a:r>
              <a:rPr lang="en-US" sz="1350" b="1" kern="0" spc="1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activo reutilizado al 60–70%."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685800" y="9867900"/>
            <a:ext cx="22473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· ARQUITECTURA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5269245" y="9867900"/>
            <a:ext cx="24091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TODO TARJETAS S.A.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3953</Words>
  <Application>Microsoft Office PowerPoint</Application>
  <PresentationFormat>Personalizado</PresentationFormat>
  <Paragraphs>740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5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Nicolas Casas Ibarra</cp:lastModifiedBy>
  <cp:revision>5</cp:revision>
  <dcterms:created xsi:type="dcterms:W3CDTF">2026-05-03T18:41:30Z</dcterms:created>
  <dcterms:modified xsi:type="dcterms:W3CDTF">2026-05-04T03:00:28Z</dcterms:modified>
</cp:coreProperties>
</file>